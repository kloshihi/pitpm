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5" r:id="rId2"/>
    <p:sldId id="257" r:id="rId3"/>
    <p:sldId id="258" r:id="rId4"/>
    <p:sldId id="260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1D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1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ADD4E-078F-4772-92AF-E66E9E622DB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412D9-1087-4D22-95C5-BA6DFCDA56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822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412D9-1087-4D22-95C5-BA6DFCDA569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1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412D9-1087-4D22-95C5-BA6DFCDA569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822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394226-DD7B-3599-8736-34160F7F8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9DEB6E-FB3E-8C05-9630-860D01E18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430E3-26A7-F995-EAD6-B4C6E8B0A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AA2A-E8B1-4CEB-9B75-D4DB861D2839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F94394-B30C-EECC-9096-E1B70421B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3FC57A-C3BB-5447-99FD-EF46DDB6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3F0D-E4BA-42F8-962D-694499B6B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183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297EB-781F-81AF-11ED-67E3195CA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074D9E-952B-81A6-0472-F4A44CA4F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58A055-19CE-169F-27B9-AF0E10793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AA2A-E8B1-4CEB-9B75-D4DB861D2839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015645-759C-E2C9-3FBE-F35268223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DDCBC4-8FF9-EFDC-17C8-29CFC4D41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3F0D-E4BA-42F8-962D-694499B6B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063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8D1FCC-40A4-CDD0-2DF3-A7289A8D6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C8E8EB-5CE7-E51A-32F1-8F99AD214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7362E9-1296-155C-BB50-DA663C16A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AA2A-E8B1-4CEB-9B75-D4DB861D2839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F0384A-EF8C-3B21-BB57-5B4DF0B1A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36F23F-EC52-FB5A-F2C2-AD95E565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3F0D-E4BA-42F8-962D-694499B6B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17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8B542-3E9D-6754-113F-2B4356BFE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407EA1-1455-4DB5-A4A6-022204CE9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9195E9-A667-1C58-1876-19459FF9F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D42C34-80C2-29F8-3FF1-AB300685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AA2A-E8B1-4CEB-9B75-D4DB861D2839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85D243-06AB-D45E-6804-9DF16CCF2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360FA9-4A2D-BE23-F97E-A90C0789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3F0D-E4BA-42F8-962D-694499B6B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730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E7AEB-19C1-FB07-87CD-8EA76820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079C34-7BFF-5C7D-1FB7-BEFAFDB70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58B215-A141-5387-DE19-794AFACED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2FD11AF-2BF1-3FFF-B594-7658E75F9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AAC753F-E1C1-F440-A12F-0DB3A895CB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BE2F5B6-35F9-F529-D595-584FD9F1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AA2A-E8B1-4CEB-9B75-D4DB861D2839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D72C347-CCF5-FF67-B7DB-3EC307F8C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961EF2-8512-11B5-BA8F-A6EEC876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3F0D-E4BA-42F8-962D-694499B6B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024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BFB937-B169-D06A-6787-48F76938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0AA072-6925-B033-D629-6A08AFF9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AA2A-E8B1-4CEB-9B75-D4DB861D2839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A6CB5F-1090-DF5B-B844-833ED472A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284555-7C7A-920E-ADD7-27889991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3F0D-E4BA-42F8-962D-694499B6B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52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22476EC-EC53-22D8-E676-88FB99A79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AA2A-E8B1-4CEB-9B75-D4DB861D2839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8FDDC53-34BC-1CEA-6F37-C96A95620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90063D-4AB5-3579-C591-44E37529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3F0D-E4BA-42F8-962D-694499B6B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918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F16445-AE5E-B1E7-C76C-4ACE1C71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D2DC1A-0E56-D1BA-64F2-C14E6A2D9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C28345-ED8B-77FB-AA94-5A9BDD346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BA4DCB-6C46-0853-463A-DAFD4D3FC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AA2A-E8B1-4CEB-9B75-D4DB861D2839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00CD52-AD9D-D34D-DAF5-98882A3E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B44E8E-092F-EEF7-AC82-9FD72EAB6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3F0D-E4BA-42F8-962D-694499B6B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41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02274-BEA1-FF6E-FBBC-F3DFC0C2E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4D036E3-11D2-E29C-14DC-AFC3F57012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6FE417-DFE1-64A2-C567-A353429FA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2B1ED6-13DA-36DC-E555-BAD6FE43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AA2A-E8B1-4CEB-9B75-D4DB861D2839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F1DC265-078B-55DE-F6B0-C2C402B61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9273A4-266D-7464-4C54-71AEB188C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3F0D-E4BA-42F8-962D-694499B6B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5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55A14A-58F6-BCC8-F756-5CF845AF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ACD841-159B-0222-689D-6AE67AF91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F1BE73-9045-D3A7-2B31-BDBEB96D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AA2A-E8B1-4CEB-9B75-D4DB861D2839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4E1887-E8FC-FE95-7BB4-A8E56ACCF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773BF7-466F-FA36-4B7C-D5CE4223C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3F0D-E4BA-42F8-962D-694499B6B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843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52987C5-D07D-F5C0-0946-66DE61E4E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E19EA3-EA3A-EAC4-FAE5-FC2B9F3D5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CB989E-766F-98EF-FAF1-B974A06A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1AA2A-E8B1-4CEB-9B75-D4DB861D2839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A91030-0823-11DE-ED62-A034A18C0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F82157-262E-2430-75B4-BEB330595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23F0D-E4BA-42F8-962D-694499B6B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648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8B072F-B3F9-6BB3-5231-737E00935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7AAA10-0A0A-5431-E4BE-E6D960FED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122564-CE70-871C-C156-38793A841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1AA2A-E8B1-4CEB-9B75-D4DB861D2839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B2D08E-1E31-F07C-14FA-9BF1D8E96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DF1161-BE94-CD87-75A9-FF68157EB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23F0D-E4BA-42F8-962D-694499B6B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940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E5D244-B396-8715-E3ED-3B66224C3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25" y="2858682"/>
            <a:ext cx="4014819" cy="1703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4C05F1-B4E0-AEC4-34E2-B6BA7FE73D16}"/>
              </a:ext>
            </a:extLst>
          </p:cNvPr>
          <p:cNvSpPr txBox="1"/>
          <p:nvPr/>
        </p:nvSpPr>
        <p:spPr>
          <a:xfrm>
            <a:off x="253901" y="3998223"/>
            <a:ext cx="45386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MV-SKIFER" pitchFamily="50" charset="0"/>
              </a:rPr>
              <a:t>PULSE</a:t>
            </a:r>
            <a:endParaRPr lang="ru-RU" sz="9000" dirty="0">
              <a:latin typeface="MV-SKIFER" pitchFamily="50" charset="0"/>
            </a:endParaRPr>
          </a:p>
        </p:txBody>
      </p:sp>
      <p:pic>
        <p:nvPicPr>
          <p:cNvPr id="8" name="Рисунок 7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8583E2B-C2DC-CC19-5A21-72DC113D77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011" y="-720367"/>
            <a:ext cx="1027031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8662DA-2923-ABA8-6684-4AD10EA253A9}"/>
              </a:ext>
            </a:extLst>
          </p:cNvPr>
          <p:cNvSpPr txBox="1"/>
          <p:nvPr/>
        </p:nvSpPr>
        <p:spPr>
          <a:xfrm>
            <a:off x="5931193" y="5845245"/>
            <a:ext cx="10937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solidFill>
                  <a:schemeClr val="bg2"/>
                </a:solidFill>
                <a:latin typeface="Franklin Gothic Medium" panose="020B0603020102020204" pitchFamily="34" charset="0"/>
              </a:rPr>
              <a:t>На пути к совершенному дизайну</a:t>
            </a:r>
            <a:endParaRPr lang="ru-RU" sz="3200" dirty="0">
              <a:solidFill>
                <a:schemeClr val="bg2"/>
              </a:solidFill>
              <a:effectLst>
                <a:outerShdw blurRad="190500" dist="50800" dir="5400000" sx="5000" sy="5000" algn="ctr" rotWithShape="0">
                  <a:srgbClr val="000000">
                    <a:alpha val="43137"/>
                  </a:srgbClr>
                </a:outer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210428" y="251680"/>
            <a:ext cx="9441530" cy="2862322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ФЕДЕРАЛЬНОЕ ГОСУДАРСТВЕННОЕ БЮДЖЕТНОЕ ОБРАЗОВАТЕЛЬНОЕ</a:t>
            </a:r>
            <a:endParaRPr lang="ru-RU" sz="2000" dirty="0">
              <a:solidFill>
                <a:schemeClr val="bg2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  <a:p>
            <a:pPr algn="ctr"/>
            <a:r>
              <a:rPr lang="ru-RU" sz="2000" b="1" dirty="0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УЧРЕЖДЕНИЕ ВЫСШЕГО ОБРАЗОВАНИЯ</a:t>
            </a:r>
            <a:endParaRPr lang="ru-RU" sz="2000" dirty="0">
              <a:solidFill>
                <a:schemeClr val="bg2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  <a:p>
            <a:pPr algn="ctr"/>
            <a:r>
              <a:rPr lang="ru-RU" sz="2000" b="1" dirty="0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«САНКТ-ПЕТЕРБУРГСКИЙ ГОСУДАРСТВЕННЫЙ УНИВЕРСИТЕТ</a:t>
            </a:r>
          </a:p>
          <a:p>
            <a:pPr algn="ctr"/>
            <a:r>
              <a:rPr lang="ru-RU" sz="2000" b="1" dirty="0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ТЕЛЕКОММУНИКАЦИЙ ИМ. ПРОФ. М.А. БОНЧ-БРУЕВИЧА»</a:t>
            </a:r>
            <a:endParaRPr lang="ru-RU" sz="2000" dirty="0">
              <a:solidFill>
                <a:schemeClr val="bg2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  <a:p>
            <a:pPr algn="ctr"/>
            <a:r>
              <a:rPr lang="ru-RU" sz="2000" b="1" dirty="0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(</a:t>
            </a:r>
            <a:r>
              <a:rPr lang="ru-RU" sz="2000" b="1" dirty="0" err="1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СПбГУТ</a:t>
            </a:r>
            <a:r>
              <a:rPr lang="ru-RU" sz="2000" b="1" dirty="0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)</a:t>
            </a:r>
            <a:endParaRPr lang="ru-RU" sz="2000" dirty="0">
              <a:solidFill>
                <a:schemeClr val="bg2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  <a:p>
            <a:pPr algn="ctr"/>
            <a:r>
              <a:rPr lang="ru-RU" sz="2000" b="1" dirty="0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 </a:t>
            </a:r>
            <a:endParaRPr lang="ru-RU" sz="2000" dirty="0">
              <a:solidFill>
                <a:schemeClr val="bg2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  <a:p>
            <a:pPr algn="ctr"/>
            <a:r>
              <a:rPr lang="ru-RU" sz="2000" b="1" dirty="0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АРХАНГЕЛЬСКИЙ КОЛЛЕДЖ ТЕЛЕКОММУНИКАЦИЙ</a:t>
            </a:r>
            <a:endParaRPr lang="ru-RU" sz="2000" dirty="0">
              <a:solidFill>
                <a:schemeClr val="bg2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  <a:p>
            <a:pPr algn="ctr"/>
            <a:r>
              <a:rPr lang="ru-RU" sz="2000" b="1" dirty="0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ИМ. Б.Л. РОЗИНГА (ФИЛИАЛ) </a:t>
            </a:r>
            <a:r>
              <a:rPr lang="ru-RU" sz="2000" b="1" dirty="0" err="1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СПбГУТ</a:t>
            </a:r>
            <a:endParaRPr lang="ru-RU" sz="2000" dirty="0">
              <a:solidFill>
                <a:schemeClr val="bg2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  <a:p>
            <a:pPr algn="ctr"/>
            <a:r>
              <a:rPr lang="ru-RU" sz="2000" b="1" dirty="0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(АКТ (ф) </a:t>
            </a:r>
            <a:r>
              <a:rPr lang="ru-RU" sz="2000" b="1" dirty="0" err="1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СПбГУТ</a:t>
            </a:r>
            <a:r>
              <a:rPr lang="ru-RU" sz="2000" b="1" dirty="0">
                <a:solidFill>
                  <a:schemeClr val="bg2"/>
                </a:solidFill>
                <a:effectLst>
                  <a:glow rad="228600">
                    <a:schemeClr val="tx1">
                      <a:alpha val="40000"/>
                    </a:schemeClr>
                  </a:glow>
                </a:effectLst>
              </a:rPr>
              <a:t>)</a:t>
            </a:r>
            <a:endParaRPr lang="ru-RU" sz="2000" dirty="0">
              <a:solidFill>
                <a:schemeClr val="bg2"/>
              </a:solidFill>
              <a:effectLst>
                <a:glow rad="228600">
                  <a:schemeClr val="tx1">
                    <a:alpha val="40000"/>
                  </a:schemeClr>
                </a:glow>
              </a:effectLst>
            </a:endParaRPr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34425" y="5160818"/>
            <a:ext cx="6400800" cy="1953627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 smtClean="0">
                <a:solidFill>
                  <a:srgbClr val="1D1D1B"/>
                </a:solidFill>
              </a:rPr>
              <a:t>Студенты ИСПП-31</a:t>
            </a:r>
            <a:r>
              <a:rPr lang="ru-RU" sz="2000" b="1" dirty="0">
                <a:solidFill>
                  <a:srgbClr val="1D1D1B"/>
                </a:solidFill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 smtClean="0">
                <a:solidFill>
                  <a:srgbClr val="1D1D1B"/>
                </a:solidFill>
              </a:rPr>
              <a:t>Власов Вячеслав Валентинович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 smtClean="0">
                <a:solidFill>
                  <a:srgbClr val="1D1D1B"/>
                </a:solidFill>
              </a:rPr>
              <a:t>Панов Матвей Иванович</a:t>
            </a:r>
            <a:endParaRPr lang="ru-RU" sz="2000" b="1" dirty="0">
              <a:solidFill>
                <a:srgbClr val="1D1D1B"/>
              </a:solidFill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rgbClr val="1D1D1B"/>
                </a:solidFill>
              </a:rPr>
              <a:t>Руководитель: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 smtClean="0">
                <a:solidFill>
                  <a:srgbClr val="1D1D1B"/>
                </a:solidFill>
              </a:rPr>
              <a:t>Садовский Роман Викторович</a:t>
            </a:r>
            <a:endParaRPr lang="ru-RU" sz="2000" b="1" dirty="0">
              <a:solidFill>
                <a:srgbClr val="1D1D1B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8662DA-2923-ABA8-6684-4AD10EA253A9}"/>
              </a:ext>
            </a:extLst>
          </p:cNvPr>
          <p:cNvSpPr txBox="1"/>
          <p:nvPr/>
        </p:nvSpPr>
        <p:spPr>
          <a:xfrm>
            <a:off x="9468477" y="6360393"/>
            <a:ext cx="10937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chemeClr val="bg2"/>
                </a:solidFill>
                <a:latin typeface="Franklin Gothic Medium" panose="020B0603020102020204" pitchFamily="34" charset="0"/>
              </a:rPr>
              <a:t>Архангельск 2025</a:t>
            </a:r>
            <a:endParaRPr lang="ru-RU" sz="2400" dirty="0">
              <a:solidFill>
                <a:schemeClr val="bg2"/>
              </a:solidFill>
              <a:effectLst>
                <a:outerShdw blurRad="190500" dist="50800" dir="5400000" sx="5000" sy="5000" algn="ctr" rotWithShape="0">
                  <a:srgbClr val="000000">
                    <a:alpha val="43137"/>
                  </a:srgbClr>
                </a:outer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28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углы 14">
            <a:extLst>
              <a:ext uri="{FF2B5EF4-FFF2-40B4-BE49-F238E27FC236}">
                <a16:creationId xmlns:a16="http://schemas.microsoft.com/office/drawing/2014/main" id="{76975C31-7578-EE11-0808-67950D89C400}"/>
              </a:ext>
            </a:extLst>
          </p:cNvPr>
          <p:cNvSpPr/>
          <p:nvPr/>
        </p:nvSpPr>
        <p:spPr>
          <a:xfrm>
            <a:off x="5970035" y="4340580"/>
            <a:ext cx="5568024" cy="785446"/>
          </a:xfrm>
          <a:prstGeom prst="round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41BA4BB5-51D9-FFF4-39EE-14B4359E69A8}"/>
              </a:ext>
            </a:extLst>
          </p:cNvPr>
          <p:cNvSpPr/>
          <p:nvPr/>
        </p:nvSpPr>
        <p:spPr>
          <a:xfrm>
            <a:off x="5953802" y="3248388"/>
            <a:ext cx="5568024" cy="796294"/>
          </a:xfrm>
          <a:prstGeom prst="round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1BBA5-128D-E162-274D-630967FE1B8B}"/>
              </a:ext>
            </a:extLst>
          </p:cNvPr>
          <p:cNvSpPr txBox="1"/>
          <p:nvPr/>
        </p:nvSpPr>
        <p:spPr>
          <a:xfrm>
            <a:off x="5986268" y="3323369"/>
            <a:ext cx="5551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Предоставление набора готовых и гибких элементов управления</a:t>
            </a:r>
            <a:endParaRPr lang="ru-RU" dirty="0">
              <a:solidFill>
                <a:schemeClr val="bg1"/>
              </a:solidFill>
              <a:effectLst>
                <a:outerShdw blurRad="190500" dist="50800" dir="5400000" sx="5000" sy="5000" algn="ctr" rotWithShape="0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D7BDF51-96FD-3C43-57AB-FADD5E91A1AE}"/>
              </a:ext>
            </a:extLst>
          </p:cNvPr>
          <p:cNvSpPr/>
          <p:nvPr/>
        </p:nvSpPr>
        <p:spPr>
          <a:xfrm>
            <a:off x="5953802" y="5421924"/>
            <a:ext cx="5568024" cy="711087"/>
          </a:xfrm>
          <a:prstGeom prst="round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42033E-23BB-B152-99B6-2A17E8EC153E}"/>
              </a:ext>
            </a:extLst>
          </p:cNvPr>
          <p:cNvSpPr txBox="1"/>
          <p:nvPr/>
        </p:nvSpPr>
        <p:spPr>
          <a:xfrm>
            <a:off x="5809284" y="5421924"/>
            <a:ext cx="5712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Ускорение процесса разработки сложных пользовательских интерфейсов</a:t>
            </a:r>
            <a:endParaRPr lang="ru-RU" dirty="0">
              <a:solidFill>
                <a:schemeClr val="bg1"/>
              </a:solidFill>
              <a:effectLst>
                <a:outerShdw blurRad="190500" dist="50800" dir="5400000" sx="5000" sy="5000" algn="ctr" rotWithShape="0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8662DA-2923-ABA8-6684-4AD10EA253A9}"/>
              </a:ext>
            </a:extLst>
          </p:cNvPr>
          <p:cNvSpPr txBox="1"/>
          <p:nvPr/>
        </p:nvSpPr>
        <p:spPr>
          <a:xfrm>
            <a:off x="755576" y="404664"/>
            <a:ext cx="11270544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500" dirty="0">
                <a:solidFill>
                  <a:schemeClr val="bg1"/>
                </a:solidFill>
                <a:latin typeface="Impact" panose="020B0806030902050204" pitchFamily="34" charset="0"/>
              </a:rPr>
              <a:t>Цель проекта </a:t>
            </a:r>
            <a:r>
              <a:rPr lang="ru-RU" sz="5500" dirty="0" smtClean="0">
                <a:solidFill>
                  <a:schemeClr val="bg1"/>
                </a:solidFill>
                <a:latin typeface="Impact" panose="020B0806030902050204" pitchFamily="34" charset="0"/>
              </a:rPr>
              <a:t>- </a:t>
            </a:r>
            <a:r>
              <a:rPr lang="ru-RU" sz="5500" dirty="0">
                <a:solidFill>
                  <a:schemeClr val="bg1"/>
                </a:solidFill>
                <a:latin typeface="Impact" panose="020B0806030902050204" pitchFamily="34" charset="0"/>
              </a:rPr>
              <a:t>упростить создание </a:t>
            </a:r>
            <a:r>
              <a:rPr lang="ru-RU" sz="5500" dirty="0" smtClean="0">
                <a:solidFill>
                  <a:schemeClr val="bg1"/>
                </a:solidFill>
                <a:latin typeface="Impact" panose="020B0806030902050204" pitchFamily="34" charset="0"/>
              </a:rPr>
              <a:t>интерфейсов </a:t>
            </a:r>
            <a:r>
              <a:rPr lang="ru-RU" sz="5500" dirty="0">
                <a:solidFill>
                  <a:schemeClr val="bg1"/>
                </a:solidFill>
                <a:latin typeface="Impact" panose="020B0806030902050204" pitchFamily="34" charset="0"/>
              </a:rPr>
              <a:t>и повысить продуктивность команды</a:t>
            </a:r>
            <a:endParaRPr lang="ru-RU" sz="5500" dirty="0">
              <a:solidFill>
                <a:schemeClr val="bg1"/>
              </a:solidFill>
              <a:effectLst>
                <a:outerShdw blurRad="190500" dist="50800" dir="5400000" sx="5000" sy="5000" algn="ctr" rotWithShape="0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81BBA5-128D-E162-274D-630967FE1B8B}"/>
              </a:ext>
            </a:extLst>
          </p:cNvPr>
          <p:cNvSpPr txBox="1"/>
          <p:nvPr/>
        </p:nvSpPr>
        <p:spPr>
          <a:xfrm>
            <a:off x="5978151" y="4410137"/>
            <a:ext cx="5551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Обеспечение совместимости с современными архитектурами приложений</a:t>
            </a:r>
            <a:endParaRPr lang="ru-RU" dirty="0">
              <a:solidFill>
                <a:schemeClr val="bg1"/>
              </a:solidFill>
              <a:effectLst>
                <a:outerShdw blurRad="190500" dist="50800" dir="5400000" sx="5000" sy="5000" algn="ctr" rotWithShape="0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" name="Рисунок 15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E5D244-B396-8715-E3ED-3B66224C3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33" y="4364405"/>
            <a:ext cx="4014819" cy="1703850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79512" y="116632"/>
            <a:ext cx="576064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endParaRPr lang="ru-RU" sz="3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18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F889804-B560-9B7D-04AB-4F087F49A272}"/>
              </a:ext>
            </a:extLst>
          </p:cNvPr>
          <p:cNvSpPr/>
          <p:nvPr/>
        </p:nvSpPr>
        <p:spPr>
          <a:xfrm>
            <a:off x="966193" y="323603"/>
            <a:ext cx="5183390" cy="1204684"/>
          </a:xfrm>
          <a:prstGeom prst="roundRect">
            <a:avLst/>
          </a:prstGeom>
          <a:solidFill>
            <a:schemeClr val="tx1">
              <a:alpha val="39000"/>
            </a:schemeClr>
          </a:solidFill>
          <a:ln>
            <a:noFill/>
          </a:ln>
          <a:effectLst>
            <a:glow rad="88900">
              <a:schemeClr val="tx1">
                <a:alpha val="40000"/>
              </a:scheme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latin typeface="Impact" panose="020B0806030902050204" pitchFamily="34" charset="0"/>
              </a:rPr>
              <a:t>Основные функции</a:t>
            </a:r>
            <a:endParaRPr lang="ru-RU" sz="4000" dirty="0">
              <a:latin typeface="Impact" panose="020B0806030902050204" pitchFamily="34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DF0C638-DF91-3A03-983C-A933E6211450}"/>
              </a:ext>
            </a:extLst>
          </p:cNvPr>
          <p:cNvSpPr/>
          <p:nvPr/>
        </p:nvSpPr>
        <p:spPr>
          <a:xfrm>
            <a:off x="491696" y="1915244"/>
            <a:ext cx="5183390" cy="4518374"/>
          </a:xfrm>
          <a:prstGeom prst="roundRect">
            <a:avLst/>
          </a:prstGeom>
          <a:solidFill>
            <a:schemeClr val="tx1">
              <a:lumMod val="65000"/>
              <a:lumOff val="3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C6299D-9E81-E308-2730-26A556431F1B}"/>
              </a:ext>
            </a:extLst>
          </p:cNvPr>
          <p:cNvSpPr txBox="1"/>
          <p:nvPr/>
        </p:nvSpPr>
        <p:spPr>
          <a:xfrm>
            <a:off x="3045300" y="2050887"/>
            <a:ext cx="1614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V-SKIFER" pitchFamily="50" charset="0"/>
              </a:rPr>
              <a:t>PULSE</a:t>
            </a:r>
            <a:endParaRPr lang="ru-RU" sz="2800" dirty="0">
              <a:latin typeface="MV-SKIFER" pitchFamily="50" charset="0"/>
            </a:endParaRPr>
          </a:p>
        </p:txBody>
      </p:sp>
      <p:pic>
        <p:nvPicPr>
          <p:cNvPr id="8" name="Рисунок 7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9A4A1B8-7386-446A-F629-4F617B004D8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805" y="2008789"/>
            <a:ext cx="1400472" cy="594346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7FF32C9-B360-4934-0FBE-8DED783D0D2F}"/>
              </a:ext>
            </a:extLst>
          </p:cNvPr>
          <p:cNvSpPr/>
          <p:nvPr/>
        </p:nvSpPr>
        <p:spPr>
          <a:xfrm>
            <a:off x="627790" y="2657793"/>
            <a:ext cx="4855503" cy="3579209"/>
          </a:xfrm>
          <a:prstGeom prst="round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&gt; 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Поддержку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современных 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UI-паттернов</a:t>
            </a:r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fontAlgn="base"/>
            <a:endParaRPr lang="ru-RU" sz="20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fontAlgn="base"/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&gt; 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Легкая </a:t>
            </a:r>
            <a:r>
              <a:rPr lang="ru-RU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кастомизация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стилей и шаблонов 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элементов</a:t>
            </a:r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fontAlgn="base"/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fontAlgn="base"/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&gt; 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Оптимизированная работа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 </a:t>
            </a:r>
            <a:r>
              <a:rPr lang="ru-RU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анимациями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 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графикой</a:t>
            </a:r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fontAlgn="base"/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fontAlgn="base"/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&gt; </a:t>
            </a:r>
            <a:r>
              <a:rPr lang="ru-RU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Совместимость </a:t>
            </a:r>
            <a:r>
              <a:rPr lang="ru-RU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с различными платформами </a:t>
            </a:r>
            <a:r>
              <a:rPr lang="ru-RU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Windows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2DB36C6-FB03-FD2D-24D3-390712CD7DC5}"/>
              </a:ext>
            </a:extLst>
          </p:cNvPr>
          <p:cNvSpPr/>
          <p:nvPr/>
        </p:nvSpPr>
        <p:spPr>
          <a:xfrm>
            <a:off x="5885706" y="4047037"/>
            <a:ext cx="6047747" cy="842582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Возможность быстрого </a:t>
            </a:r>
            <a:r>
              <a:rPr lang="ru-R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прототипирования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 интерфейсов благодаря широкому спектру предустановленных </a:t>
            </a:r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контроллеров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FF21678A-E43F-B292-609B-595556D35D09}"/>
              </a:ext>
            </a:extLst>
          </p:cNvPr>
          <p:cNvSpPr/>
          <p:nvPr/>
        </p:nvSpPr>
        <p:spPr>
          <a:xfrm>
            <a:off x="8742664" y="4943715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9">
            <a:extLst>
              <a:ext uri="{FF2B5EF4-FFF2-40B4-BE49-F238E27FC236}">
                <a16:creationId xmlns:a16="http://schemas.microsoft.com/office/drawing/2014/main" id="{72DB36C6-FB03-FD2D-24D3-390712CD7DC5}"/>
              </a:ext>
            </a:extLst>
          </p:cNvPr>
          <p:cNvSpPr/>
          <p:nvPr/>
        </p:nvSpPr>
        <p:spPr>
          <a:xfrm>
            <a:off x="5885703" y="2761291"/>
            <a:ext cx="6047747" cy="842582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Полностью настраиваемые элементы управления (поддерживаются XAML-стили и </a:t>
            </a:r>
            <a:r>
              <a:rPr lang="ru-RU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DataTemplates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</a:p>
        </p:txBody>
      </p:sp>
      <p:sp>
        <p:nvSpPr>
          <p:cNvPr id="16" name="Прямоугольник: скругленные углы 9">
            <a:extLst>
              <a:ext uri="{FF2B5EF4-FFF2-40B4-BE49-F238E27FC236}">
                <a16:creationId xmlns:a16="http://schemas.microsoft.com/office/drawing/2014/main" id="{72DB36C6-FB03-FD2D-24D3-390712CD7DC5}"/>
              </a:ext>
            </a:extLst>
          </p:cNvPr>
          <p:cNvSpPr/>
          <p:nvPr/>
        </p:nvSpPr>
        <p:spPr>
          <a:xfrm>
            <a:off x="5885703" y="1463380"/>
            <a:ext cx="6047747" cy="842582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Автоматическое обновление элементов интерфейса в зависимости от состояния модели данных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Прямоугольник: скругленные углы 9">
            <a:extLst>
              <a:ext uri="{FF2B5EF4-FFF2-40B4-BE49-F238E27FC236}">
                <a16:creationId xmlns:a16="http://schemas.microsoft.com/office/drawing/2014/main" id="{72DB36C6-FB03-FD2D-24D3-390712CD7DC5}"/>
              </a:ext>
            </a:extLst>
          </p:cNvPr>
          <p:cNvSpPr/>
          <p:nvPr/>
        </p:nvSpPr>
        <p:spPr>
          <a:xfrm>
            <a:off x="5885706" y="5335721"/>
            <a:ext cx="6047747" cy="842582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Простота интеграции с существующими приложениями благодаря открытому API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FF21678A-E43F-B292-609B-595556D35D09}"/>
              </a:ext>
            </a:extLst>
          </p:cNvPr>
          <p:cNvSpPr/>
          <p:nvPr/>
        </p:nvSpPr>
        <p:spPr>
          <a:xfrm>
            <a:off x="8742663" y="3657969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FF21678A-E43F-B292-609B-595556D35D09}"/>
              </a:ext>
            </a:extLst>
          </p:cNvPr>
          <p:cNvSpPr/>
          <p:nvPr/>
        </p:nvSpPr>
        <p:spPr>
          <a:xfrm>
            <a:off x="8742663" y="2366712"/>
            <a:ext cx="333829" cy="333829"/>
          </a:xfrm>
          <a:prstGeom prst="ellipse">
            <a:avLst/>
          </a:prstGeom>
          <a:solidFill>
            <a:srgbClr val="97EA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179512" y="116632"/>
            <a:ext cx="576064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6716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13">
            <a:extLst>
              <a:ext uri="{FF2B5EF4-FFF2-40B4-BE49-F238E27FC236}">
                <a16:creationId xmlns:a16="http://schemas.microsoft.com/office/drawing/2014/main" id="{41BA4BB5-51D9-FFF4-39EE-14B4359E69A8}"/>
              </a:ext>
            </a:extLst>
          </p:cNvPr>
          <p:cNvSpPr/>
          <p:nvPr/>
        </p:nvSpPr>
        <p:spPr>
          <a:xfrm>
            <a:off x="290287" y="2116273"/>
            <a:ext cx="8360228" cy="917212"/>
          </a:xfrm>
          <a:prstGeom prst="round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81BBA5-128D-E162-274D-630967FE1B8B}"/>
              </a:ext>
            </a:extLst>
          </p:cNvPr>
          <p:cNvSpPr txBox="1"/>
          <p:nvPr/>
        </p:nvSpPr>
        <p:spPr>
          <a:xfrm>
            <a:off x="392286" y="2251713"/>
            <a:ext cx="8156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Автоматизированное тестирование</a:t>
            </a:r>
            <a:r>
              <a:rPr lang="ru-RU" dirty="0">
                <a:solidFill>
                  <a:schemeClr val="bg1"/>
                </a:solidFill>
              </a:rPr>
              <a:t>: автоматизированные тесты покрывают основную функциональность каждого компонента</a:t>
            </a:r>
            <a:endParaRPr lang="ru-RU" dirty="0">
              <a:solidFill>
                <a:schemeClr val="bg1"/>
              </a:solidFill>
              <a:effectLst>
                <a:outerShdw blurRad="190500" dist="50800" dir="5400000" sx="5000" sy="5000" algn="ctr" rotWithShape="0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Прямоугольник: скругленные углы 4">
            <a:extLst>
              <a:ext uri="{FF2B5EF4-FFF2-40B4-BE49-F238E27FC236}">
                <a16:creationId xmlns:a16="http://schemas.microsoft.com/office/drawing/2014/main" id="{0F889804-B560-9B7D-04AB-4F087F49A272}"/>
              </a:ext>
            </a:extLst>
          </p:cNvPr>
          <p:cNvSpPr/>
          <p:nvPr/>
        </p:nvSpPr>
        <p:spPr>
          <a:xfrm>
            <a:off x="5986268" y="353800"/>
            <a:ext cx="5909103" cy="1204684"/>
          </a:xfrm>
          <a:prstGeom prst="roundRect">
            <a:avLst/>
          </a:prstGeom>
          <a:solidFill>
            <a:schemeClr val="tx1">
              <a:alpha val="39000"/>
            </a:schemeClr>
          </a:solidFill>
          <a:ln>
            <a:noFill/>
          </a:ln>
          <a:effectLst>
            <a:glow rad="88900">
              <a:schemeClr val="tx1">
                <a:alpha val="40000"/>
              </a:scheme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latin typeface="Impact" panose="020B0806030902050204" pitchFamily="34" charset="0"/>
              </a:rPr>
              <a:t>Процесс тестирования</a:t>
            </a:r>
            <a:endParaRPr lang="ru-RU" sz="4000" dirty="0">
              <a:latin typeface="Impact" panose="020B0806030902050204" pitchFamily="34" charset="0"/>
            </a:endParaRPr>
          </a:p>
        </p:txBody>
      </p:sp>
      <p:sp>
        <p:nvSpPr>
          <p:cNvPr id="7" name="Прямоугольник: скругленные углы 13">
            <a:extLst>
              <a:ext uri="{FF2B5EF4-FFF2-40B4-BE49-F238E27FC236}">
                <a16:creationId xmlns:a16="http://schemas.microsoft.com/office/drawing/2014/main" id="{41BA4BB5-51D9-FFF4-39EE-14B4359E69A8}"/>
              </a:ext>
            </a:extLst>
          </p:cNvPr>
          <p:cNvSpPr/>
          <p:nvPr/>
        </p:nvSpPr>
        <p:spPr>
          <a:xfrm>
            <a:off x="296669" y="3591274"/>
            <a:ext cx="8360228" cy="917212"/>
          </a:xfrm>
          <a:prstGeom prst="round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81BBA5-128D-E162-274D-630967FE1B8B}"/>
              </a:ext>
            </a:extLst>
          </p:cNvPr>
          <p:cNvSpPr txBox="1"/>
          <p:nvPr/>
        </p:nvSpPr>
        <p:spPr>
          <a:xfrm>
            <a:off x="296669" y="3591274"/>
            <a:ext cx="82518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Нагрузочные испытания</a:t>
            </a:r>
            <a:r>
              <a:rPr lang="ru-RU" dirty="0">
                <a:solidFill>
                  <a:schemeClr val="bg1"/>
                </a:solidFill>
              </a:rPr>
              <a:t>: проверка стабильности системы при работе с большими объемами данных и множеством одновременных операций</a:t>
            </a:r>
            <a:endParaRPr lang="ru-RU" dirty="0">
              <a:solidFill>
                <a:schemeClr val="bg1"/>
              </a:solidFill>
              <a:effectLst>
                <a:outerShdw blurRad="190500" dist="50800" dir="5400000" sx="5000" sy="5000" algn="ctr" rotWithShape="0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Прямоугольник: скругленные углы 13">
            <a:extLst>
              <a:ext uri="{FF2B5EF4-FFF2-40B4-BE49-F238E27FC236}">
                <a16:creationId xmlns:a16="http://schemas.microsoft.com/office/drawing/2014/main" id="{41BA4BB5-51D9-FFF4-39EE-14B4359E69A8}"/>
              </a:ext>
            </a:extLst>
          </p:cNvPr>
          <p:cNvSpPr/>
          <p:nvPr/>
        </p:nvSpPr>
        <p:spPr>
          <a:xfrm>
            <a:off x="296669" y="5066275"/>
            <a:ext cx="8360228" cy="646331"/>
          </a:xfrm>
          <a:prstGeom prst="round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81BBA5-128D-E162-274D-630967FE1B8B}"/>
              </a:ext>
            </a:extLst>
          </p:cNvPr>
          <p:cNvSpPr txBox="1"/>
          <p:nvPr/>
        </p:nvSpPr>
        <p:spPr>
          <a:xfrm>
            <a:off x="296669" y="5066275"/>
            <a:ext cx="8251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Регрессионное тестирование</a:t>
            </a:r>
            <a:r>
              <a:rPr lang="ru-RU" dirty="0">
                <a:solidFill>
                  <a:schemeClr val="bg1"/>
                </a:solidFill>
              </a:rPr>
              <a:t>: регулярная проверка работоспособности ранее протестированных функций</a:t>
            </a:r>
            <a:endParaRPr lang="ru-RU" dirty="0">
              <a:solidFill>
                <a:schemeClr val="bg1"/>
              </a:solidFill>
              <a:effectLst>
                <a:outerShdw blurRad="190500" dist="50800" dir="5400000" sx="5000" sy="5000" algn="ctr" rotWithShape="0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26" name="Picture 2" descr="SmartBear TestComplete · Git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766" y="3312379"/>
            <a:ext cx="1650205" cy="1557110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q · GitHu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990" y="1755269"/>
            <a:ext cx="1687738" cy="155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xUnit.net · GitHu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8990" y="4869489"/>
            <a:ext cx="1822555" cy="1822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Прямоугольник 11"/>
          <p:cNvSpPr/>
          <p:nvPr/>
        </p:nvSpPr>
        <p:spPr>
          <a:xfrm>
            <a:off x="179512" y="116632"/>
            <a:ext cx="576064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554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ciChart - the Fastest WPF Chart. 2021 Performance Comparison Upd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034" y="1558484"/>
            <a:ext cx="9392503" cy="506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F889804-B560-9B7D-04AB-4F087F49A272}"/>
              </a:ext>
            </a:extLst>
          </p:cNvPr>
          <p:cNvSpPr/>
          <p:nvPr/>
        </p:nvSpPr>
        <p:spPr>
          <a:xfrm>
            <a:off x="2887580" y="161294"/>
            <a:ext cx="6152297" cy="1204684"/>
          </a:xfrm>
          <a:prstGeom prst="roundRect">
            <a:avLst/>
          </a:prstGeom>
          <a:solidFill>
            <a:schemeClr val="tx1">
              <a:alpha val="39000"/>
            </a:schemeClr>
          </a:solidFill>
          <a:ln>
            <a:noFill/>
          </a:ln>
          <a:effectLst>
            <a:glow rad="88900">
              <a:schemeClr val="tx1">
                <a:alpha val="40000"/>
              </a:scheme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latin typeface="Impact" panose="020B0806030902050204" pitchFamily="34" charset="0"/>
              </a:rPr>
              <a:t>Результаты тестирования</a:t>
            </a:r>
            <a:endParaRPr lang="ru-RU" sz="4000" dirty="0">
              <a:latin typeface="Impact" panose="020B0806030902050204" pitchFamily="34" charset="0"/>
            </a:endParaRPr>
          </a:p>
        </p:txBody>
      </p:sp>
      <p:sp>
        <p:nvSpPr>
          <p:cNvPr id="7" name="Прямоугольник: скругленные углы 9">
            <a:extLst>
              <a:ext uri="{FF2B5EF4-FFF2-40B4-BE49-F238E27FC236}">
                <a16:creationId xmlns:a16="http://schemas.microsoft.com/office/drawing/2014/main" id="{72DB36C6-FB03-FD2D-24D3-390712CD7DC5}"/>
              </a:ext>
            </a:extLst>
          </p:cNvPr>
          <p:cNvSpPr/>
          <p:nvPr/>
        </p:nvSpPr>
        <p:spPr>
          <a:xfrm>
            <a:off x="190756" y="4252886"/>
            <a:ext cx="2199518" cy="2045389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Повторное тестирование показало, что все объекты библиотеки работают исправно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Прямоугольник: скругленные углы 9">
            <a:extLst>
              <a:ext uri="{FF2B5EF4-FFF2-40B4-BE49-F238E27FC236}">
                <a16:creationId xmlns:a16="http://schemas.microsoft.com/office/drawing/2014/main" id="{72DB36C6-FB03-FD2D-24D3-390712CD7DC5}"/>
              </a:ext>
            </a:extLst>
          </p:cNvPr>
          <p:cNvSpPr/>
          <p:nvPr/>
        </p:nvSpPr>
        <p:spPr>
          <a:xfrm>
            <a:off x="190756" y="1660800"/>
            <a:ext cx="2199518" cy="2045389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Изначально были недочёты при работе с паттернами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79512" y="116632"/>
            <a:ext cx="576064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4288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F889804-B560-9B7D-04AB-4F087F49A272}"/>
              </a:ext>
            </a:extLst>
          </p:cNvPr>
          <p:cNvSpPr/>
          <p:nvPr/>
        </p:nvSpPr>
        <p:spPr>
          <a:xfrm>
            <a:off x="2887580" y="161294"/>
            <a:ext cx="6152297" cy="1204684"/>
          </a:xfrm>
          <a:prstGeom prst="roundRect">
            <a:avLst/>
          </a:prstGeom>
          <a:solidFill>
            <a:schemeClr val="tx1">
              <a:alpha val="39000"/>
            </a:schemeClr>
          </a:solidFill>
          <a:ln>
            <a:noFill/>
          </a:ln>
          <a:effectLst>
            <a:glow rad="88900">
              <a:schemeClr val="tx1">
                <a:alpha val="40000"/>
              </a:schemeClr>
            </a:glow>
            <a:outerShdw blurRad="2794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 smtClean="0">
                <a:latin typeface="Impact" panose="020B0806030902050204" pitchFamily="34" charset="0"/>
              </a:rPr>
              <a:t>Планы на будущее</a:t>
            </a:r>
            <a:endParaRPr lang="ru-RU" sz="4000" dirty="0">
              <a:latin typeface="Impact" panose="020B0806030902050204" pitchFamily="34" charset="0"/>
            </a:endParaRPr>
          </a:p>
        </p:txBody>
      </p:sp>
      <p:sp>
        <p:nvSpPr>
          <p:cNvPr id="8" name="Прямоугольник: скругленные углы 9">
            <a:extLst>
              <a:ext uri="{FF2B5EF4-FFF2-40B4-BE49-F238E27FC236}">
                <a16:creationId xmlns:a16="http://schemas.microsoft.com/office/drawing/2014/main" id="{72DB36C6-FB03-FD2D-24D3-390712CD7DC5}"/>
              </a:ext>
            </a:extLst>
          </p:cNvPr>
          <p:cNvSpPr/>
          <p:nvPr/>
        </p:nvSpPr>
        <p:spPr>
          <a:xfrm>
            <a:off x="352926" y="1604211"/>
            <a:ext cx="11502189" cy="4989094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Улучшение существующих функций на основе полученной обратной 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связи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Полностью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переработанный интерфейс, ориентированный на интуитивное взаимодействие и повышение удобства работы конечных 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пользователей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Анализ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и оптимизация алгоритмов для повышения общей 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эффективности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Расширение </a:t>
            </a:r>
            <a:r>
              <a:rPr lang="ru-RU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инфраструктуры для поддержки роста числа пользователей и увеличения объемов обрабатываемых </a:t>
            </a:r>
            <a:r>
              <a:rPr lang="ru-RU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данных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79512" y="116632"/>
            <a:ext cx="576064" cy="57606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9902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Графика, Шрифт, логотип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E5D244-B396-8715-E3ED-3B66224C3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25" y="2858682"/>
            <a:ext cx="4014819" cy="1703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4C05F1-B4E0-AEC4-34E2-B6BA7FE73D16}"/>
              </a:ext>
            </a:extLst>
          </p:cNvPr>
          <p:cNvSpPr txBox="1"/>
          <p:nvPr/>
        </p:nvSpPr>
        <p:spPr>
          <a:xfrm>
            <a:off x="253901" y="3998223"/>
            <a:ext cx="45386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MV-SKIFER" pitchFamily="50" charset="0"/>
              </a:rPr>
              <a:t>PULSE</a:t>
            </a:r>
            <a:endParaRPr lang="ru-RU" sz="9000" dirty="0">
              <a:latin typeface="MV-SKIFER" pitchFamily="50" charset="0"/>
            </a:endParaRPr>
          </a:p>
        </p:txBody>
      </p:sp>
      <p:pic>
        <p:nvPicPr>
          <p:cNvPr id="8" name="Рисунок 7" descr="Изображение выглядит как черный, темно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8583E2B-C2DC-CC19-5A21-72DC113D77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011" y="-720367"/>
            <a:ext cx="1027031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8662DA-2923-ABA8-6684-4AD10EA253A9}"/>
              </a:ext>
            </a:extLst>
          </p:cNvPr>
          <p:cNvSpPr txBox="1"/>
          <p:nvPr/>
        </p:nvSpPr>
        <p:spPr>
          <a:xfrm>
            <a:off x="5931193" y="6137634"/>
            <a:ext cx="10937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solidFill>
                  <a:schemeClr val="bg2"/>
                </a:solidFill>
                <a:latin typeface="Franklin Gothic Medium" panose="020B0603020102020204" pitchFamily="34" charset="0"/>
              </a:rPr>
              <a:t>На пути к совершенному дизайну</a:t>
            </a:r>
            <a:endParaRPr lang="ru-RU" sz="3200" dirty="0">
              <a:solidFill>
                <a:schemeClr val="bg2"/>
              </a:solidFill>
              <a:effectLst>
                <a:outerShdw blurRad="190500" dist="50800" dir="5400000" sx="5000" sy="5000" algn="ctr" rotWithShape="0">
                  <a:srgbClr val="000000">
                    <a:alpha val="43137"/>
                  </a:srgbClr>
                </a:outerShdw>
              </a:effectLst>
              <a:latin typeface="Franklin Gothic Medium" panose="020B06030201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210428" y="251680"/>
            <a:ext cx="944153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2"/>
                </a:solidFill>
              </a:rPr>
              <a:t>ФЕДЕРАЛЬНОЕ ГОСУДАРСТВЕННОЕ БЮДЖЕТНОЕ ОБРАЗОВАТЕЛЬНОЕ</a:t>
            </a:r>
            <a:endParaRPr lang="ru-RU" sz="1600" dirty="0">
              <a:solidFill>
                <a:schemeClr val="bg2"/>
              </a:solidFill>
            </a:endParaRPr>
          </a:p>
          <a:p>
            <a:pPr algn="ctr"/>
            <a:r>
              <a:rPr lang="ru-RU" sz="1600" b="1" dirty="0">
                <a:solidFill>
                  <a:schemeClr val="bg2"/>
                </a:solidFill>
              </a:rPr>
              <a:t>УЧРЕЖДЕНИЕ ВЫСШЕГО ОБРАЗОВАНИЯ</a:t>
            </a:r>
            <a:endParaRPr lang="ru-RU" sz="1600" dirty="0">
              <a:solidFill>
                <a:schemeClr val="bg2"/>
              </a:solidFill>
            </a:endParaRPr>
          </a:p>
          <a:p>
            <a:pPr algn="ctr"/>
            <a:r>
              <a:rPr lang="ru-RU" sz="1600" b="1" dirty="0">
                <a:solidFill>
                  <a:schemeClr val="bg2"/>
                </a:solidFill>
              </a:rPr>
              <a:t>«САНКТ-ПЕТЕРБУРГСКИЙ ГОСУДАРСТВЕННЫЙ УНИВЕРСИТЕТ</a:t>
            </a:r>
          </a:p>
          <a:p>
            <a:pPr algn="ctr"/>
            <a:r>
              <a:rPr lang="ru-RU" sz="1600" b="1" dirty="0">
                <a:solidFill>
                  <a:schemeClr val="bg2"/>
                </a:solidFill>
              </a:rPr>
              <a:t>ТЕЛЕКОММУНИКАЦИЙ ИМ. ПРОФ. М.А. БОНЧ-БРУЕВИЧА»</a:t>
            </a:r>
            <a:endParaRPr lang="ru-RU" sz="1600" dirty="0">
              <a:solidFill>
                <a:schemeClr val="bg2"/>
              </a:solidFill>
            </a:endParaRPr>
          </a:p>
          <a:p>
            <a:pPr algn="ctr"/>
            <a:r>
              <a:rPr lang="ru-RU" sz="1600" b="1" dirty="0">
                <a:solidFill>
                  <a:schemeClr val="bg2"/>
                </a:solidFill>
              </a:rPr>
              <a:t>(</a:t>
            </a:r>
            <a:r>
              <a:rPr lang="ru-RU" sz="1600" b="1" dirty="0" err="1">
                <a:solidFill>
                  <a:schemeClr val="bg2"/>
                </a:solidFill>
              </a:rPr>
              <a:t>СПбГУТ</a:t>
            </a:r>
            <a:r>
              <a:rPr lang="ru-RU" sz="1600" b="1" dirty="0">
                <a:solidFill>
                  <a:schemeClr val="bg2"/>
                </a:solidFill>
              </a:rPr>
              <a:t>)</a:t>
            </a:r>
            <a:endParaRPr lang="ru-RU" sz="1600" dirty="0">
              <a:solidFill>
                <a:schemeClr val="bg2"/>
              </a:solidFill>
            </a:endParaRPr>
          </a:p>
          <a:p>
            <a:pPr algn="ctr"/>
            <a:r>
              <a:rPr lang="ru-RU" sz="1600" b="1" dirty="0">
                <a:solidFill>
                  <a:schemeClr val="bg2"/>
                </a:solidFill>
              </a:rPr>
              <a:t> </a:t>
            </a:r>
            <a:endParaRPr lang="ru-RU" sz="1600" dirty="0">
              <a:solidFill>
                <a:schemeClr val="bg2"/>
              </a:solidFill>
            </a:endParaRPr>
          </a:p>
          <a:p>
            <a:pPr algn="ctr"/>
            <a:r>
              <a:rPr lang="ru-RU" sz="1600" b="1" dirty="0">
                <a:solidFill>
                  <a:schemeClr val="bg2"/>
                </a:solidFill>
              </a:rPr>
              <a:t>АРХАНГЕЛЬСКИЙ КОЛЛЕДЖ ТЕЛЕКОММУНИКАЦИЙ</a:t>
            </a:r>
            <a:endParaRPr lang="ru-RU" sz="1600" dirty="0">
              <a:solidFill>
                <a:schemeClr val="bg2"/>
              </a:solidFill>
            </a:endParaRPr>
          </a:p>
          <a:p>
            <a:pPr algn="ctr"/>
            <a:r>
              <a:rPr lang="ru-RU" sz="1600" b="1" dirty="0">
                <a:solidFill>
                  <a:schemeClr val="bg2"/>
                </a:solidFill>
              </a:rPr>
              <a:t>ИМ. Б.Л. РОЗИНГА (ФИЛИАЛ) </a:t>
            </a:r>
            <a:r>
              <a:rPr lang="ru-RU" sz="1600" b="1" dirty="0" err="1">
                <a:solidFill>
                  <a:schemeClr val="bg2"/>
                </a:solidFill>
              </a:rPr>
              <a:t>СПбГУТ</a:t>
            </a:r>
            <a:endParaRPr lang="ru-RU" sz="1600" dirty="0">
              <a:solidFill>
                <a:schemeClr val="bg2"/>
              </a:solidFill>
            </a:endParaRPr>
          </a:p>
          <a:p>
            <a:pPr algn="ctr"/>
            <a:r>
              <a:rPr lang="ru-RU" sz="1600" b="1" dirty="0">
                <a:solidFill>
                  <a:schemeClr val="bg2"/>
                </a:solidFill>
              </a:rPr>
              <a:t>(АКТ (ф) </a:t>
            </a:r>
            <a:r>
              <a:rPr lang="ru-RU" sz="1600" b="1" dirty="0" err="1">
                <a:solidFill>
                  <a:schemeClr val="bg2"/>
                </a:solidFill>
              </a:rPr>
              <a:t>СПбГУТ</a:t>
            </a:r>
            <a:r>
              <a:rPr lang="ru-RU" sz="1600" b="1" dirty="0">
                <a:solidFill>
                  <a:schemeClr val="bg2"/>
                </a:solidFill>
              </a:rPr>
              <a:t>)</a:t>
            </a:r>
            <a:endParaRPr lang="ru-RU" sz="1600" dirty="0">
              <a:solidFill>
                <a:schemeClr val="bg2"/>
              </a:solidFill>
            </a:endParaRPr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34425" y="5160820"/>
            <a:ext cx="6400800" cy="1953627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 smtClean="0">
                <a:solidFill>
                  <a:srgbClr val="1D1D1B"/>
                </a:solidFill>
              </a:rPr>
              <a:t>Студенты ИСПП-31</a:t>
            </a:r>
            <a:r>
              <a:rPr lang="ru-RU" sz="2000" b="1" dirty="0">
                <a:solidFill>
                  <a:srgbClr val="1D1D1B"/>
                </a:solidFill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 smtClean="0">
                <a:solidFill>
                  <a:srgbClr val="1D1D1B"/>
                </a:solidFill>
              </a:rPr>
              <a:t>Власов Вячеслав Валентинович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 smtClean="0">
                <a:solidFill>
                  <a:srgbClr val="1D1D1B"/>
                </a:solidFill>
              </a:rPr>
              <a:t>Панов Матвей Иванович</a:t>
            </a:r>
            <a:endParaRPr lang="ru-RU" sz="2000" b="1" dirty="0">
              <a:solidFill>
                <a:srgbClr val="1D1D1B"/>
              </a:solidFill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>
                <a:solidFill>
                  <a:srgbClr val="1D1D1B"/>
                </a:solidFill>
              </a:rPr>
              <a:t>Руководитель: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2000" b="1" dirty="0" smtClean="0">
                <a:solidFill>
                  <a:srgbClr val="1D1D1B"/>
                </a:solidFill>
              </a:rPr>
              <a:t>Садовский Роман Викторович</a:t>
            </a:r>
            <a:endParaRPr lang="ru-RU" sz="2000" b="1" dirty="0">
              <a:solidFill>
                <a:srgbClr val="1D1D1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32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289</Words>
  <Application>Microsoft Office PowerPoint</Application>
  <PresentationFormat>Широкоэкранный</PresentationFormat>
  <Paragraphs>72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Cascadia Code</vt:lpstr>
      <vt:lpstr>Franklin Gothic Medium</vt:lpstr>
      <vt:lpstr>Impact</vt:lpstr>
      <vt:lpstr>MV-SKIFER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vlasov vaceslav</dc:creator>
  <cp:lastModifiedBy>221</cp:lastModifiedBy>
  <cp:revision>30</cp:revision>
  <dcterms:created xsi:type="dcterms:W3CDTF">2025-12-09T21:28:54Z</dcterms:created>
  <dcterms:modified xsi:type="dcterms:W3CDTF">2025-12-16T06:54:57Z</dcterms:modified>
</cp:coreProperties>
</file>