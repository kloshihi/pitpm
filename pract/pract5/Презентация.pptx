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0" d="100"/>
          <a:sy n="60" d="100"/>
        </p:scale>
        <p:origin x="78" y="11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C394226-DD7B-3599-8736-34160F7F80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839DEB6E-FB3E-8C05-9630-860D01E18B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09430E3-26A7-F995-EAD6-B4C6E8B0A8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31AA2A-E8B1-4CEB-9B75-D4DB861D2839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AF94394-B30C-EECC-9096-E1B70421B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23FC57A-C3BB-5447-99FD-EF46DDB6F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23F0D-E4BA-42F8-962D-694499B6BF1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371839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BD297EB-781F-81AF-11ED-67E3195CA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F074D9E-952B-81A6-0472-F4A44CA4FF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658A055-19CE-169F-27B9-AF0E107933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31AA2A-E8B1-4CEB-9B75-D4DB861D2839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1015645-759C-E2C9-3FBE-F35268223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6DDCBC4-8FF9-EFDC-17C8-29CFC4D417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23F0D-E4BA-42F8-962D-694499B6BF1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06330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C8D1FCC-40A4-CDD0-2DF3-A7289A8D6E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5C8E8EB-5CE7-E51A-32F1-8F99AD2145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87362E9-1296-155C-BB50-DA663C16AB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31AA2A-E8B1-4CEB-9B75-D4DB861D2839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DF0384A-EF8C-3B21-BB57-5B4DF0B1AE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336F23F-EC52-FB5A-F2C2-AD95E5651B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23F0D-E4BA-42F8-962D-694499B6BF1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31794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E68B542-3E9D-6754-113F-2B4356BFE7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3407EA1-1455-4DB5-A4A6-022204CE9F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49195E9-A667-1C58-1876-19459FF9F1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DD42C34-80C2-29F8-3FF1-AB3006856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31AA2A-E8B1-4CEB-9B75-D4DB861D2839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985D243-06AB-D45E-6804-9DF16CCF2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E360FA9-4A2D-BE23-F97E-A90C0789B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23F0D-E4BA-42F8-962D-694499B6BF1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05730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CE7AEB-19C1-FB07-87CD-8EA768200F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8079C34-7BFF-5C7D-1FB7-BEFAFDB70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C58B215-A141-5387-DE19-794AFACEDE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2FD11AF-2BF1-3FFF-B594-7658E75F978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AAC753F-E1C1-F440-A12F-0DB3A895CB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DBE2F5B6-35F9-F529-D595-584FD9F13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31AA2A-E8B1-4CEB-9B75-D4DB861D2839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AD72C347-CCF5-FF67-B7DB-3EC307F8CF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96961EF2-8512-11B5-BA8F-A6EEC8768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23F0D-E4BA-42F8-962D-694499B6BF1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80024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BFB937-B169-D06A-6787-48F76938FB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F80AA072-6925-B033-D629-6A08AFF934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31AA2A-E8B1-4CEB-9B75-D4DB861D2839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7A6CB5F-1090-DF5B-B844-833ED472AB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C284555-7C7A-920E-ADD7-27889991D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23F0D-E4BA-42F8-962D-694499B6BF1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125298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822476EC-EC53-22D8-E676-88FB99A79E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31AA2A-E8B1-4CEB-9B75-D4DB861D2839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28FDDC53-34BC-1CEA-6F37-C96A956207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390063D-4AB5-3579-C591-44E37529B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23F0D-E4BA-42F8-962D-694499B6BF1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19184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2F16445-AE5E-B1E7-C76C-4ACE1C719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ED2DC1A-0E56-D1BA-64F2-C14E6A2D9A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4C28345-ED8B-77FB-AA94-5A9BDD346F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7BA4DCB-6C46-0853-463A-DAFD4D3FC4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31AA2A-E8B1-4CEB-9B75-D4DB861D2839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000CD52-AD9D-D34D-DAF5-98882A3E7F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3B44E8E-092F-EEF7-AC82-9FD72EAB6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23F0D-E4BA-42F8-962D-694499B6BF1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124198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802274-BEA1-FF6E-FBBC-F3DFC0C2E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54D036E3-11D2-E29C-14DC-AFC3F57012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86FE417-DFE1-64A2-C567-A353429FA4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A2B1ED6-13DA-36DC-E555-BAD6FE4319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31AA2A-E8B1-4CEB-9B75-D4DB861D2839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F1DC265-078B-55DE-F6B0-C2C402B614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69273A4-266D-7464-4C54-71AEB188C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23F0D-E4BA-42F8-962D-694499B6BF1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0577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455A14A-58F6-BCC8-F756-5CF845AF18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EACD841-159B-0222-689D-6AE67AF91F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8F1BE73-9045-D3A7-2B31-BDBEB96D7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31AA2A-E8B1-4CEB-9B75-D4DB861D2839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54E1887-E8FC-FE95-7BB4-A8E56ACCF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4773BF7-466F-FA36-4B7C-D5CE4223C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23F0D-E4BA-42F8-962D-694499B6BF1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68430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852987C5-D07D-F5C0-0946-66DE61E4E06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9E19EA3-EA3A-EAC4-FAE5-FC2B9F3D5D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5CB989E-766F-98EF-FAF1-B974A06AE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31AA2A-E8B1-4CEB-9B75-D4DB861D2839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A91030-0823-11DE-ED62-A034A18C0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2F82157-262E-2430-75B4-BEB330595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C23F0D-E4BA-42F8-962D-694499B6BF1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66486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98B072F-B3F9-6BB3-5231-737E00935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37AAA10-0A0A-5431-E4BE-E6D960FEDD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0122564-CE70-871C-C156-38793A8412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31AA2A-E8B1-4CEB-9B75-D4DB861D2839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1B2D08E-1E31-F07C-14FA-9BF1D8E96C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BDF1161-BE94-CD87-75A9-FF68157EBE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C23F0D-E4BA-42F8-962D-694499B6BF1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839405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 descr="Изображение выглядит как Графика, Шрифт, логотип, графический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D6E5D244-B396-8715-E3ED-3B66224C3E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3527" y="616628"/>
            <a:ext cx="4014819" cy="170385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54C05F1-B4E0-AEC4-34E2-B6BA7FE73D16}"/>
              </a:ext>
            </a:extLst>
          </p:cNvPr>
          <p:cNvSpPr txBox="1"/>
          <p:nvPr/>
        </p:nvSpPr>
        <p:spPr>
          <a:xfrm>
            <a:off x="5990726" y="755809"/>
            <a:ext cx="453866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0" dirty="0">
                <a:latin typeface="MV-SKIFER" pitchFamily="50" charset="0"/>
              </a:rPr>
              <a:t>PULSE</a:t>
            </a:r>
            <a:endParaRPr lang="ru-RU" sz="9000" dirty="0">
              <a:latin typeface="MV-SKIFER" pitchFamily="50" charset="0"/>
            </a:endParaRPr>
          </a:p>
        </p:txBody>
      </p:sp>
      <p:pic>
        <p:nvPicPr>
          <p:cNvPr id="8" name="Рисунок 7" descr="Изображение выглядит как черный, темнот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F8583E2B-C2DC-CC19-5A21-72DC113D77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5461" y="-832190"/>
            <a:ext cx="10270314" cy="6858000"/>
          </a:xfrm>
          <a:prstGeom prst="rect">
            <a:avLst/>
          </a:prstGeom>
        </p:spPr>
      </p:pic>
      <p:pic>
        <p:nvPicPr>
          <p:cNvPr id="9" name="Рисунок 8" descr="Изображение выглядит как черный, темнот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E076DBEC-9F0D-4ECD-BCC8-B2E689CF0E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3542" y="2714466"/>
            <a:ext cx="9274629" cy="4383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493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41BA4BB5-51D9-FFF4-39EE-14B4359E69A8}"/>
              </a:ext>
            </a:extLst>
          </p:cNvPr>
          <p:cNvSpPr/>
          <p:nvPr/>
        </p:nvSpPr>
        <p:spPr>
          <a:xfrm>
            <a:off x="6191823" y="1902152"/>
            <a:ext cx="5568024" cy="923330"/>
          </a:xfrm>
          <a:prstGeom prst="roundRect">
            <a:avLst/>
          </a:prstGeom>
          <a:solidFill>
            <a:schemeClr val="tx1">
              <a:alpha val="1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81BBA5-128D-E162-274D-630967FE1B8B}"/>
              </a:ext>
            </a:extLst>
          </p:cNvPr>
          <p:cNvSpPr txBox="1"/>
          <p:nvPr/>
        </p:nvSpPr>
        <p:spPr>
          <a:xfrm>
            <a:off x="6208056" y="1923784"/>
            <a:ext cx="555179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effectLst>
                  <a:outerShdw blurRad="190500" dist="50800" dir="5400000" sx="5000" sy="5000" algn="ctr" rotWithShape="0">
                    <a:srgbClr val="000000">
                      <a:alpha val="43137"/>
                    </a:srgbClr>
                  </a:outerShdw>
                </a:effectLst>
              </a:rPr>
              <a:t>По разным оценкам и заявлениям представителей агрегаторов, уровень отказов составляет в среднем 10-20% от общего числа заказов. </a:t>
            </a:r>
          </a:p>
        </p:txBody>
      </p:sp>
      <p:sp>
        <p:nvSpPr>
          <p:cNvPr id="5" name="TextBox 13">
            <a:extLst>
              <a:ext uri="{FF2B5EF4-FFF2-40B4-BE49-F238E27FC236}">
                <a16:creationId xmlns:a16="http://schemas.microsoft.com/office/drawing/2014/main" id="{293B2B73-D89D-243A-47D3-0DB289613AD9}"/>
              </a:ext>
            </a:extLst>
          </p:cNvPr>
          <p:cNvSpPr txBox="1"/>
          <p:nvPr/>
        </p:nvSpPr>
        <p:spPr>
          <a:xfrm>
            <a:off x="6208056" y="3171887"/>
            <a:ext cx="57125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effectLst>
                  <a:outerShdw blurRad="190500" dist="50800" dir="5400000" sx="5000" sy="5000" algn="ctr" rotWithShape="0">
                    <a:srgbClr val="000000">
                      <a:alpha val="43137"/>
                    </a:srgbClr>
                  </a:outerShdw>
                </a:effectLst>
              </a:rPr>
              <a:t>Объем рынка на 2025 </a:t>
            </a:r>
            <a:r>
              <a:rPr lang="en-US" dirty="0">
                <a:solidFill>
                  <a:schemeClr val="bg1"/>
                </a:solidFill>
                <a:effectLst>
                  <a:outerShdw blurRad="190500" dist="50800" dir="5400000" sx="5000" sy="5000" algn="ctr" rotWithShape="0">
                    <a:srgbClr val="000000">
                      <a:alpha val="43137"/>
                    </a:srgbClr>
                  </a:outerShdw>
                </a:effectLst>
              </a:rPr>
              <a:t>~</a:t>
            </a:r>
            <a:r>
              <a:rPr lang="ru-RU" dirty="0">
                <a:solidFill>
                  <a:schemeClr val="bg1"/>
                </a:solidFill>
                <a:effectLst>
                  <a:outerShdw blurRad="190500" dist="50800" dir="5400000" sx="5000" sy="5000" algn="ctr" rotWithShape="0">
                    <a:srgbClr val="000000">
                      <a:alpha val="43137"/>
                    </a:srgbClr>
                  </a:outerShdw>
                </a:effectLst>
              </a:rPr>
              <a:t> 2,3 млрд поездок в год. Средний количество отказов – 345 млн. в год</a:t>
            </a: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BD7BDF51-96FD-3C43-57AB-FADD5E91A1AE}"/>
              </a:ext>
            </a:extLst>
          </p:cNvPr>
          <p:cNvSpPr/>
          <p:nvPr/>
        </p:nvSpPr>
        <p:spPr>
          <a:xfrm>
            <a:off x="6191823" y="4318314"/>
            <a:ext cx="5568024" cy="595497"/>
          </a:xfrm>
          <a:prstGeom prst="roundRect">
            <a:avLst/>
          </a:prstGeom>
          <a:solidFill>
            <a:schemeClr val="tx1">
              <a:alpha val="1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42033E-23BB-B152-99B6-2A17E8EC153E}"/>
              </a:ext>
            </a:extLst>
          </p:cNvPr>
          <p:cNvSpPr txBox="1"/>
          <p:nvPr/>
        </p:nvSpPr>
        <p:spPr>
          <a:xfrm>
            <a:off x="6208056" y="4444059"/>
            <a:ext cx="57125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effectLst>
                  <a:outerShdw blurRad="190500" dist="50800" dir="5400000" sx="5000" sy="5000" algn="ctr" rotWithShape="0">
                    <a:srgbClr val="000000">
                      <a:alpha val="43137"/>
                    </a:srgbClr>
                  </a:outerShdw>
                </a:effectLst>
              </a:rPr>
              <a:t>Таксист теряет время и деньги на торгах с клиентом.</a:t>
            </a:r>
          </a:p>
        </p:txBody>
      </p:sp>
      <p:grpSp>
        <p:nvGrpSpPr>
          <p:cNvPr id="10" name="Группа 9">
            <a:extLst>
              <a:ext uri="{FF2B5EF4-FFF2-40B4-BE49-F238E27FC236}">
                <a16:creationId xmlns:a16="http://schemas.microsoft.com/office/drawing/2014/main" id="{8BDFBDFB-BCC8-34E7-2C8C-CDDEFB33302E}"/>
              </a:ext>
            </a:extLst>
          </p:cNvPr>
          <p:cNvGrpSpPr/>
          <p:nvPr/>
        </p:nvGrpSpPr>
        <p:grpSpPr>
          <a:xfrm>
            <a:off x="6208056" y="3121380"/>
            <a:ext cx="5712542" cy="785446"/>
            <a:chOff x="6047305" y="20583880"/>
            <a:chExt cx="5712542" cy="785446"/>
          </a:xfrm>
        </p:grpSpPr>
        <p:sp>
          <p:nvSpPr>
            <p:cNvPr id="11" name="Прямоугольник: скругленные углы 14">
              <a:extLst>
                <a:ext uri="{FF2B5EF4-FFF2-40B4-BE49-F238E27FC236}">
                  <a16:creationId xmlns:a16="http://schemas.microsoft.com/office/drawing/2014/main" id="{76975C31-7578-EE11-0808-67950D89C400}"/>
                </a:ext>
              </a:extLst>
            </p:cNvPr>
            <p:cNvSpPr/>
            <p:nvPr/>
          </p:nvSpPr>
          <p:spPr>
            <a:xfrm>
              <a:off x="6047305" y="20583880"/>
              <a:ext cx="5568024" cy="785446"/>
            </a:xfrm>
            <a:prstGeom prst="roundRect">
              <a:avLst/>
            </a:prstGeom>
            <a:solidFill>
              <a:schemeClr val="tx1">
                <a:alpha val="1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" name="TextBox 13">
              <a:extLst>
                <a:ext uri="{FF2B5EF4-FFF2-40B4-BE49-F238E27FC236}">
                  <a16:creationId xmlns:a16="http://schemas.microsoft.com/office/drawing/2014/main" id="{34C7A6B9-B427-6C12-667F-879F2FBCCC03}"/>
                </a:ext>
              </a:extLst>
            </p:cNvPr>
            <p:cNvSpPr txBox="1"/>
            <p:nvPr/>
          </p:nvSpPr>
          <p:spPr>
            <a:xfrm>
              <a:off x="6047305" y="20634387"/>
              <a:ext cx="571254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>
                  <a:solidFill>
                    <a:schemeClr val="bg1"/>
                  </a:solidFill>
                  <a:effectLst>
                    <a:outerShdw blurRad="190500" dist="50800" dir="5400000" sx="5000" sy="5000" algn="ctr" rotWithShape="0">
                      <a:srgbClr val="000000">
                        <a:alpha val="43137"/>
                      </a:srgbClr>
                    </a:outerShdw>
                  </a:effectLst>
                </a:rPr>
                <a:t>Объем рынка на 2025 </a:t>
              </a:r>
              <a:r>
                <a:rPr lang="en-US" dirty="0">
                  <a:solidFill>
                    <a:schemeClr val="bg1"/>
                  </a:solidFill>
                  <a:effectLst>
                    <a:outerShdw blurRad="190500" dist="50800" dir="5400000" sx="5000" sy="5000" algn="ctr" rotWithShape="0">
                      <a:srgbClr val="000000">
                        <a:alpha val="43137"/>
                      </a:srgbClr>
                    </a:outerShdw>
                  </a:effectLst>
                </a:rPr>
                <a:t>~</a:t>
              </a:r>
              <a:r>
                <a:rPr lang="ru-RU" dirty="0">
                  <a:solidFill>
                    <a:schemeClr val="bg1"/>
                  </a:solidFill>
                  <a:effectLst>
                    <a:outerShdw blurRad="190500" dist="50800" dir="5400000" sx="5000" sy="5000" algn="ctr" rotWithShape="0">
                      <a:srgbClr val="000000">
                        <a:alpha val="43137"/>
                      </a:srgbClr>
                    </a:outerShdw>
                  </a:effectLst>
                </a:rPr>
                <a:t> 2,3 млрд поездок в год. Средний количество отказов – 345 млн. в год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CA8662DA-2923-ABA8-6684-4AD10EA253A9}"/>
              </a:ext>
            </a:extLst>
          </p:cNvPr>
          <p:cNvSpPr txBox="1"/>
          <p:nvPr/>
        </p:nvSpPr>
        <p:spPr>
          <a:xfrm>
            <a:off x="432153" y="539196"/>
            <a:ext cx="5712542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6000" dirty="0">
                <a:solidFill>
                  <a:schemeClr val="bg1"/>
                </a:solidFill>
                <a:effectLst>
                  <a:outerShdw blurRad="190500" dist="50800" dir="5400000" sx="5000" sy="5000" algn="ctr" rotWithShape="0">
                    <a:srgbClr val="000000">
                      <a:alpha val="43137"/>
                    </a:srgbClr>
                  </a:outerShdw>
                </a:effectLst>
                <a:latin typeface="20 db" panose="02000507020000020004" pitchFamily="50" charset="0"/>
              </a:rPr>
              <a:t>Цель данного решения закрыть ряд проблем</a:t>
            </a:r>
          </a:p>
        </p:txBody>
      </p:sp>
    </p:spTree>
    <p:extLst>
      <p:ext uri="{BB962C8B-B14F-4D97-AF65-F5344CB8AC3E}">
        <p14:creationId xmlns:p14="http://schemas.microsoft.com/office/powerpoint/2010/main" val="41221890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0F889804-B560-9B7D-04AB-4F087F49A272}"/>
              </a:ext>
            </a:extLst>
          </p:cNvPr>
          <p:cNvSpPr/>
          <p:nvPr/>
        </p:nvSpPr>
        <p:spPr>
          <a:xfrm>
            <a:off x="491697" y="339286"/>
            <a:ext cx="4991161" cy="1204684"/>
          </a:xfrm>
          <a:prstGeom prst="roundRect">
            <a:avLst/>
          </a:prstGeom>
          <a:solidFill>
            <a:schemeClr val="tx1">
              <a:alpha val="39000"/>
            </a:schemeClr>
          </a:solidFill>
          <a:ln>
            <a:noFill/>
          </a:ln>
          <a:effectLst>
            <a:glow rad="88900">
              <a:schemeClr val="tx1">
                <a:alpha val="40000"/>
              </a:schemeClr>
            </a:glow>
            <a:outerShdw blurRad="2794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>
                <a:latin typeface="TD Mars" pitchFamily="50" charset="0"/>
              </a:rPr>
              <a:t>РЕШЕНИЕ</a:t>
            </a: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1DF0C638-DF91-3A03-983C-A933E6211450}"/>
              </a:ext>
            </a:extLst>
          </p:cNvPr>
          <p:cNvSpPr/>
          <p:nvPr/>
        </p:nvSpPr>
        <p:spPr>
          <a:xfrm>
            <a:off x="491696" y="1915244"/>
            <a:ext cx="4675390" cy="4518374"/>
          </a:xfrm>
          <a:prstGeom prst="roundRect">
            <a:avLst/>
          </a:prstGeom>
          <a:solidFill>
            <a:schemeClr val="tx1">
              <a:lumMod val="65000"/>
              <a:lumOff val="35000"/>
              <a:alpha val="2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C6299D-9E81-E308-2730-26A556431F1B}"/>
              </a:ext>
            </a:extLst>
          </p:cNvPr>
          <p:cNvSpPr txBox="1"/>
          <p:nvPr/>
        </p:nvSpPr>
        <p:spPr>
          <a:xfrm>
            <a:off x="2828465" y="2078104"/>
            <a:ext cx="16147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MV-SKIFER" pitchFamily="50" charset="0"/>
              </a:rPr>
              <a:t>PULSE</a:t>
            </a:r>
            <a:endParaRPr lang="ru-RU" sz="2800" dirty="0">
              <a:latin typeface="MV-SKIFER" pitchFamily="50" charset="0"/>
            </a:endParaRPr>
          </a:p>
        </p:txBody>
      </p:sp>
      <p:pic>
        <p:nvPicPr>
          <p:cNvPr id="8" name="Рисунок 7" descr="Изображение выглядит как Графика, Шрифт, логотип, графический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B9A4A1B8-7386-446A-F629-4F617B004D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9970" y="2036006"/>
            <a:ext cx="1400472" cy="594346"/>
          </a:xfrm>
          <a:prstGeom prst="rect">
            <a:avLst/>
          </a:prstGeom>
        </p:spPr>
      </p:pic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07FF32C9-B360-4934-0FBE-8DED783D0D2F}"/>
              </a:ext>
            </a:extLst>
          </p:cNvPr>
          <p:cNvSpPr/>
          <p:nvPr/>
        </p:nvSpPr>
        <p:spPr>
          <a:xfrm>
            <a:off x="627791" y="2657793"/>
            <a:ext cx="4379638" cy="3579209"/>
          </a:xfrm>
          <a:prstGeom prst="roundRect">
            <a:avLst/>
          </a:prstGeom>
          <a:solidFill>
            <a:schemeClr val="bg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000" dirty="0" err="1">
                <a:solidFill>
                  <a:schemeClr val="tx1"/>
                </a:solidFill>
              </a:rPr>
              <a:t>Drivee</a:t>
            </a:r>
            <a:r>
              <a:rPr lang="ru-RU" sz="2000" dirty="0">
                <a:solidFill>
                  <a:schemeClr val="tx1"/>
                </a:solidFill>
              </a:rPr>
              <a:t> </a:t>
            </a:r>
            <a:r>
              <a:rPr lang="en-US" sz="2000" dirty="0">
                <a:solidFill>
                  <a:schemeClr val="tx1"/>
                </a:solidFill>
              </a:rPr>
              <a:t>P</a:t>
            </a:r>
            <a:r>
              <a:rPr lang="ru-RU" sz="2000" dirty="0" err="1">
                <a:solidFill>
                  <a:schemeClr val="tx1"/>
                </a:solidFill>
              </a:rPr>
              <a:t>ulse</a:t>
            </a:r>
            <a:r>
              <a:rPr lang="ru-RU" sz="2000" dirty="0">
                <a:solidFill>
                  <a:schemeClr val="tx1"/>
                </a:solidFill>
              </a:rPr>
              <a:t> - это ML-модель, которая подсказывает клиенту оптимальную цену для поездки, а водителю варианты цен для предложения клиенту.</a:t>
            </a:r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72DB36C6-FB03-FD2D-24D3-390712CD7DC5}"/>
              </a:ext>
            </a:extLst>
          </p:cNvPr>
          <p:cNvSpPr/>
          <p:nvPr/>
        </p:nvSpPr>
        <p:spPr>
          <a:xfrm>
            <a:off x="5941313" y="393646"/>
            <a:ext cx="6047747" cy="608593"/>
          </a:xfrm>
          <a:prstGeom prst="roundRect">
            <a:avLst/>
          </a:prstGeom>
          <a:solidFill>
            <a:schemeClr val="bg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Клиент вводит куда и откуда он хочет добраться.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4FA7DA8-8ABF-F540-97F5-B883A4B54C58}"/>
              </a:ext>
            </a:extLst>
          </p:cNvPr>
          <p:cNvSpPr/>
          <p:nvPr/>
        </p:nvSpPr>
        <p:spPr>
          <a:xfrm>
            <a:off x="5910050" y="1160143"/>
            <a:ext cx="6079010" cy="917961"/>
          </a:xfrm>
          <a:prstGeom prst="roundRect">
            <a:avLst/>
          </a:prstGeom>
          <a:solidFill>
            <a:schemeClr val="bg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Система автоматически дополняет данные: Название и модель машины, дистанция, и. т. п.</a:t>
            </a:r>
          </a:p>
        </p:txBody>
      </p:sp>
      <p:sp>
        <p:nvSpPr>
          <p:cNvPr id="13" name="Овал 12">
            <a:extLst>
              <a:ext uri="{FF2B5EF4-FFF2-40B4-BE49-F238E27FC236}">
                <a16:creationId xmlns:a16="http://schemas.microsoft.com/office/drawing/2014/main" id="{FF21678A-E43F-B292-609B-595556D35D09}"/>
              </a:ext>
            </a:extLst>
          </p:cNvPr>
          <p:cNvSpPr/>
          <p:nvPr/>
        </p:nvSpPr>
        <p:spPr>
          <a:xfrm>
            <a:off x="8798271" y="2270604"/>
            <a:ext cx="333829" cy="333829"/>
          </a:xfrm>
          <a:prstGeom prst="ellipse">
            <a:avLst/>
          </a:prstGeom>
          <a:solidFill>
            <a:srgbClr val="97EA2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C5CD81DC-BC6E-D68E-57E3-BC762E0CB779}"/>
              </a:ext>
            </a:extLst>
          </p:cNvPr>
          <p:cNvSpPr/>
          <p:nvPr/>
        </p:nvSpPr>
        <p:spPr>
          <a:xfrm>
            <a:off x="5925680" y="2760453"/>
            <a:ext cx="6079010" cy="1948930"/>
          </a:xfrm>
          <a:prstGeom prst="roundRect">
            <a:avLst/>
          </a:prstGeom>
          <a:solidFill>
            <a:schemeClr val="bg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Модель анализирует данные и выдает результат:</a:t>
            </a:r>
          </a:p>
          <a:p>
            <a:pPr algn="ctr"/>
            <a:r>
              <a:rPr lang="ru-RU" b="1" dirty="0">
                <a:solidFill>
                  <a:srgbClr val="92D050"/>
                </a:solidFill>
                <a:effectLst>
                  <a:outerShdw blurRad="76200" dist="50800" dir="5400000" algn="ctr" rotWithShape="0">
                    <a:srgbClr val="000000">
                      <a:alpha val="43137"/>
                    </a:srgbClr>
                  </a:outerShdw>
                </a:effectLst>
              </a:rPr>
              <a:t>Безопасный</a:t>
            </a:r>
            <a:r>
              <a:rPr lang="ru-RU" dirty="0">
                <a:solidFill>
                  <a:srgbClr val="92D050"/>
                </a:solidFill>
                <a:effectLst>
                  <a:outerShdw blurRad="76200" dist="50800" dir="5400000" algn="ctr" rotWithShape="0">
                    <a:srgbClr val="000000">
                      <a:alpha val="43137"/>
                    </a:srgbClr>
                  </a:outerShdw>
                </a:effectLst>
              </a:rPr>
              <a:t>: </a:t>
            </a:r>
            <a:r>
              <a:rPr lang="ru-RU" dirty="0">
                <a:solidFill>
                  <a:schemeClr val="tx1"/>
                </a:solidFill>
              </a:rPr>
              <a:t>500 руб. | Вероятность согласия 90%</a:t>
            </a:r>
          </a:p>
          <a:p>
            <a:pPr algn="ctr"/>
            <a:r>
              <a:rPr lang="ru-RU" b="1" dirty="0">
                <a:solidFill>
                  <a:schemeClr val="tx2">
                    <a:lumMod val="50000"/>
                    <a:lumOff val="50000"/>
                  </a:schemeClr>
                </a:solidFill>
                <a:effectLst>
                  <a:outerShdw blurRad="76200" dist="50800" dir="5400000" algn="ctr" rotWithShape="0">
                    <a:srgbClr val="000000">
                      <a:alpha val="43137"/>
                    </a:srgbClr>
                  </a:outerShdw>
                </a:effectLst>
              </a:rPr>
              <a:t>Оптимальный</a:t>
            </a:r>
            <a:r>
              <a:rPr lang="ru-RU" dirty="0">
                <a:solidFill>
                  <a:schemeClr val="tx2">
                    <a:lumMod val="50000"/>
                    <a:lumOff val="50000"/>
                  </a:schemeClr>
                </a:solidFill>
              </a:rPr>
              <a:t>: </a:t>
            </a:r>
            <a:r>
              <a:rPr lang="ru-RU" dirty="0">
                <a:solidFill>
                  <a:schemeClr val="tx1"/>
                </a:solidFill>
              </a:rPr>
              <a:t>Цена: 550 руб. | Вероятность согласия: 80%</a:t>
            </a:r>
          </a:p>
          <a:p>
            <a:pPr algn="ctr"/>
            <a:r>
              <a:rPr lang="ru-RU" dirty="0">
                <a:solidFill>
                  <a:srgbClr val="FF0000"/>
                </a:solidFill>
                <a:effectLst>
                  <a:outerShdw blurRad="76200" dist="50800" dir="5400000" algn="ctr" rotWithShape="0">
                    <a:srgbClr val="000000">
                      <a:alpha val="43137"/>
                    </a:srgbClr>
                  </a:outerShdw>
                </a:effectLst>
              </a:rPr>
              <a:t>Рискованный</a:t>
            </a:r>
            <a:r>
              <a:rPr lang="ru-RU" dirty="0">
                <a:solidFill>
                  <a:srgbClr val="FF0000"/>
                </a:solidFill>
              </a:rPr>
              <a:t>:</a:t>
            </a:r>
            <a:r>
              <a:rPr lang="ru-RU" dirty="0">
                <a:solidFill>
                  <a:schemeClr val="tx1"/>
                </a:solidFill>
              </a:rPr>
              <a:t> Цена: 650 руб. | Вероятность согласия: 60%</a:t>
            </a:r>
          </a:p>
        </p:txBody>
      </p:sp>
      <p:grpSp>
        <p:nvGrpSpPr>
          <p:cNvPr id="21" name="Группа 20">
            <a:extLst>
              <a:ext uri="{FF2B5EF4-FFF2-40B4-BE49-F238E27FC236}">
                <a16:creationId xmlns:a16="http://schemas.microsoft.com/office/drawing/2014/main" id="{642C7967-52F1-9E4E-3408-6BA05C133CCF}"/>
              </a:ext>
            </a:extLst>
          </p:cNvPr>
          <p:cNvGrpSpPr/>
          <p:nvPr/>
        </p:nvGrpSpPr>
        <p:grpSpPr>
          <a:xfrm>
            <a:off x="5941313" y="4895430"/>
            <a:ext cx="6047747" cy="1745283"/>
            <a:chOff x="5625438" y="4567179"/>
            <a:chExt cx="6047747" cy="1745283"/>
          </a:xfrm>
        </p:grpSpPr>
        <p:sp>
          <p:nvSpPr>
            <p:cNvPr id="22" name="Овал 21">
              <a:extLst>
                <a:ext uri="{FF2B5EF4-FFF2-40B4-BE49-F238E27FC236}">
                  <a16:creationId xmlns:a16="http://schemas.microsoft.com/office/drawing/2014/main" id="{973456DD-7D41-8905-D175-8578EC5AFEB4}"/>
                </a:ext>
              </a:extLst>
            </p:cNvPr>
            <p:cNvSpPr/>
            <p:nvPr/>
          </p:nvSpPr>
          <p:spPr>
            <a:xfrm>
              <a:off x="8523548" y="4567179"/>
              <a:ext cx="333829" cy="333829"/>
            </a:xfrm>
            <a:prstGeom prst="ellipse">
              <a:avLst/>
            </a:prstGeom>
            <a:solidFill>
              <a:srgbClr val="97EA2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: скругленные углы 22">
              <a:extLst>
                <a:ext uri="{FF2B5EF4-FFF2-40B4-BE49-F238E27FC236}">
                  <a16:creationId xmlns:a16="http://schemas.microsoft.com/office/drawing/2014/main" id="{9ED73F1C-615E-6EBD-6206-441E28ED1F90}"/>
                </a:ext>
              </a:extLst>
            </p:cNvPr>
            <p:cNvSpPr/>
            <p:nvPr/>
          </p:nvSpPr>
          <p:spPr>
            <a:xfrm>
              <a:off x="5625438" y="5063482"/>
              <a:ext cx="6047747" cy="1248980"/>
            </a:xfrm>
            <a:prstGeom prst="round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b="1" dirty="0">
                  <a:solidFill>
                    <a:schemeClr val="tx1"/>
                  </a:solidFill>
                  <a:effectLst>
                    <a:outerShdw blurRad="76200" dist="50800" dir="5400000" algn="ctr" rotWithShape="0">
                      <a:srgbClr val="000000">
                        <a:alpha val="43137"/>
                      </a:srgbClr>
                    </a:outerShdw>
                  </a:effectLst>
                </a:rPr>
                <a:t>Преимущество: </a:t>
              </a:r>
              <a:r>
                <a:rPr lang="ru-RU" dirty="0">
                  <a:solidFill>
                    <a:schemeClr val="tx1"/>
                  </a:solidFill>
                </a:rPr>
                <a:t>Таксист получает не просто цифру, а обоснованный прогноз, и может сам выбрать стратегию: надежную или с наценкой.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671665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24584D81-5962-C9B1-0CF8-F683632297FB}"/>
              </a:ext>
            </a:extLst>
          </p:cNvPr>
          <p:cNvSpPr/>
          <p:nvPr/>
        </p:nvSpPr>
        <p:spPr>
          <a:xfrm>
            <a:off x="2336067" y="400409"/>
            <a:ext cx="7519865" cy="1204684"/>
          </a:xfrm>
          <a:prstGeom prst="roundRect">
            <a:avLst/>
          </a:prstGeom>
          <a:solidFill>
            <a:schemeClr val="accent1">
              <a:lumMod val="60000"/>
              <a:lumOff val="40000"/>
              <a:alpha val="39000"/>
            </a:schemeClr>
          </a:solidFill>
          <a:ln>
            <a:noFill/>
          </a:ln>
          <a:effectLst>
            <a:glow rad="88900">
              <a:srgbClr val="00B0F0">
                <a:alpha val="40000"/>
              </a:srgbClr>
            </a:glow>
            <a:outerShdw blurRad="2794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>
                <a:latin typeface="TD Mars" pitchFamily="50" charset="0"/>
              </a:rPr>
              <a:t>Альтернативные предложения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F831C185-401A-C992-C976-F13DAAC970B5}"/>
              </a:ext>
            </a:extLst>
          </p:cNvPr>
          <p:cNvSpPr/>
          <p:nvPr/>
        </p:nvSpPr>
        <p:spPr>
          <a:xfrm>
            <a:off x="323850" y="5175250"/>
            <a:ext cx="1104900" cy="2101850"/>
          </a:xfrm>
          <a:prstGeom prst="rect">
            <a:avLst/>
          </a:prstGeom>
          <a:solidFill>
            <a:schemeClr val="bg2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0C8016E0-081C-0AD1-C02F-C4FD74DF7BFC}"/>
              </a:ext>
            </a:extLst>
          </p:cNvPr>
          <p:cNvSpPr/>
          <p:nvPr/>
        </p:nvSpPr>
        <p:spPr>
          <a:xfrm>
            <a:off x="2965411" y="5162550"/>
            <a:ext cx="1104900" cy="2114550"/>
          </a:xfrm>
          <a:prstGeom prst="rect">
            <a:avLst/>
          </a:prstGeom>
          <a:solidFill>
            <a:schemeClr val="bg2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86DD0CFD-4332-5E70-C5C9-A8017E1AE5BA}"/>
              </a:ext>
            </a:extLst>
          </p:cNvPr>
          <p:cNvSpPr/>
          <p:nvPr/>
        </p:nvSpPr>
        <p:spPr>
          <a:xfrm>
            <a:off x="1604943" y="3086100"/>
            <a:ext cx="1104900" cy="4191000"/>
          </a:xfrm>
          <a:prstGeom prst="rect">
            <a:avLst/>
          </a:prstGeom>
          <a:solidFill>
            <a:srgbClr val="FFFF00">
              <a:alpha val="5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 descr="Изображение выглядит как Графика, Шрифт, логотип, символ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632AFC3-7714-61D9-930D-ABD72ECA86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687" y="4492685"/>
            <a:ext cx="682565" cy="682565"/>
          </a:xfrm>
          <a:prstGeom prst="rect">
            <a:avLst/>
          </a:prstGeom>
        </p:spPr>
      </p:pic>
      <p:pic>
        <p:nvPicPr>
          <p:cNvPr id="10" name="Рисунок 9" descr="Изображение выглядит как логотип, символ, Графика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35BD36E-CB3F-61E1-1CB1-86EEA4A98B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688" t="13294" r="29583" b="12699"/>
          <a:stretch>
            <a:fillRect/>
          </a:stretch>
        </p:blipFill>
        <p:spPr>
          <a:xfrm>
            <a:off x="3170237" y="4524708"/>
            <a:ext cx="695248" cy="663242"/>
          </a:xfrm>
          <a:prstGeom prst="rect">
            <a:avLst/>
          </a:prstGeom>
        </p:spPr>
      </p:pic>
      <p:sp>
        <p:nvSpPr>
          <p:cNvPr id="11" name="Прямоугольник: скругленные углы 10">
            <a:extLst>
              <a:ext uri="{FF2B5EF4-FFF2-40B4-BE49-F238E27FC236}">
                <a16:creationId xmlns:a16="http://schemas.microsoft.com/office/drawing/2014/main" id="{18FF2489-D6FF-11F7-3FD4-A7702F928334}"/>
              </a:ext>
            </a:extLst>
          </p:cNvPr>
          <p:cNvSpPr/>
          <p:nvPr/>
        </p:nvSpPr>
        <p:spPr>
          <a:xfrm>
            <a:off x="5486401" y="2685691"/>
            <a:ext cx="6277052" cy="2769317"/>
          </a:xfrm>
          <a:prstGeom prst="roundRect">
            <a:avLst/>
          </a:prstGeom>
          <a:solidFill>
            <a:schemeClr val="bg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Конкуренты, такие как </a:t>
            </a:r>
            <a:r>
              <a:rPr lang="ru-RU" sz="2400" dirty="0" err="1">
                <a:solidFill>
                  <a:schemeClr val="tx1"/>
                </a:solidFill>
              </a:rPr>
              <a:t>YandexGo</a:t>
            </a:r>
            <a:r>
              <a:rPr lang="ru-RU" sz="2400" dirty="0">
                <a:solidFill>
                  <a:schemeClr val="tx1"/>
                </a:solidFill>
              </a:rPr>
              <a:t>, </a:t>
            </a:r>
            <a:r>
              <a:rPr lang="ru-RU" sz="2400" dirty="0" err="1">
                <a:solidFill>
                  <a:schemeClr val="tx1"/>
                </a:solidFill>
              </a:rPr>
              <a:t>InDrive</a:t>
            </a:r>
            <a:r>
              <a:rPr lang="ru-RU" sz="2400" dirty="0">
                <a:solidFill>
                  <a:schemeClr val="tx1"/>
                </a:solidFill>
              </a:rPr>
              <a:t>. Используют статичную цену, которая при учёте контекста может оказаться несправедливой. Прогноз </a:t>
            </a:r>
            <a:r>
              <a:rPr lang="ru-RU" sz="2400" dirty="0" err="1">
                <a:solidFill>
                  <a:schemeClr val="tx1"/>
                </a:solidFill>
              </a:rPr>
              <a:t>Ml</a:t>
            </a:r>
            <a:r>
              <a:rPr lang="ru-RU" sz="2400" dirty="0">
                <a:solidFill>
                  <a:schemeClr val="tx1"/>
                </a:solidFill>
              </a:rPr>
              <a:t>-модели и возможность торговаться позволяют достичь компромисса.</a:t>
            </a:r>
          </a:p>
        </p:txBody>
      </p:sp>
      <p:pic>
        <p:nvPicPr>
          <p:cNvPr id="12" name="Рисунок 11" descr="Изображение выглядит как Графика, Шрифт, логотип, графический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33A5B7C9-8BF0-0507-731F-D76CF933199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553" y="2390517"/>
            <a:ext cx="1114479" cy="47297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7333464-BD9D-CBF3-5738-740BC53C995B}"/>
              </a:ext>
            </a:extLst>
          </p:cNvPr>
          <p:cNvSpPr txBox="1"/>
          <p:nvPr/>
        </p:nvSpPr>
        <p:spPr>
          <a:xfrm>
            <a:off x="1600153" y="2778383"/>
            <a:ext cx="128588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MV-SKIFER" pitchFamily="50" charset="0"/>
              </a:rPr>
              <a:t>PULSE</a:t>
            </a:r>
            <a:endParaRPr lang="ru-RU" sz="2000" b="1" dirty="0">
              <a:latin typeface="MV-SKIFER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89033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2B6AACE-0EA8-3E01-C09A-8B221144A9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D1081B9-F8AB-15EB-C0F8-07152E9538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55488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C27854C-7C9F-8C9C-16DD-1CEA19449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B8D77D0-2A0C-63A6-1CBF-8C339D16CD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Рисунок 3" descr="Изображение выглядит как зеленый, Красочность, све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69C540D7-67CF-429B-A3F1-D2B305C9BA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B7207F0-5CA7-2C8F-7E3B-9C800146F005}"/>
              </a:ext>
            </a:extLst>
          </p:cNvPr>
          <p:cNvSpPr txBox="1"/>
          <p:nvPr/>
        </p:nvSpPr>
        <p:spPr>
          <a:xfrm>
            <a:off x="2692400" y="2466554"/>
            <a:ext cx="680720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400" dirty="0">
                <a:solidFill>
                  <a:schemeClr val="bg1"/>
                </a:solidFill>
                <a:latin typeface="TD Mars" pitchFamily="50" charset="0"/>
              </a:rPr>
              <a:t>СПАСИБО ЗА ВНИМАНИЕ</a:t>
            </a: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F27EFF8C-1B33-0371-3660-B13A1B4E33ED}"/>
              </a:ext>
            </a:extLst>
          </p:cNvPr>
          <p:cNvSpPr/>
          <p:nvPr/>
        </p:nvSpPr>
        <p:spPr>
          <a:xfrm>
            <a:off x="2830286" y="4326255"/>
            <a:ext cx="6560457" cy="1959428"/>
          </a:xfrm>
          <a:prstGeom prst="roundRect">
            <a:avLst/>
          </a:prstGeom>
          <a:solidFill>
            <a:schemeClr val="bg1">
              <a:alpha val="6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7" name="Рисунок 6" descr="Изображение выглядит как Графика, Шрифт, логотип, графический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830D2AB-5ADE-1DFE-BCBF-112A464FB57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8340" y="4828263"/>
            <a:ext cx="2824347" cy="1198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204154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230</Words>
  <Application>Microsoft Office PowerPoint</Application>
  <PresentationFormat>Широкоэкранный</PresentationFormat>
  <Paragraphs>20</Paragraphs>
  <Slides>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13" baseType="lpstr">
      <vt:lpstr>20 db</vt:lpstr>
      <vt:lpstr>Aptos</vt:lpstr>
      <vt:lpstr>Aptos Display</vt:lpstr>
      <vt:lpstr>Arial</vt:lpstr>
      <vt:lpstr>MV-SKIFER</vt:lpstr>
      <vt:lpstr>TD Mars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vlasov vaceslav</dc:creator>
  <cp:lastModifiedBy>vlasov vaceslav</cp:lastModifiedBy>
  <cp:revision>10</cp:revision>
  <dcterms:created xsi:type="dcterms:W3CDTF">2025-12-09T21:28:54Z</dcterms:created>
  <dcterms:modified xsi:type="dcterms:W3CDTF">2025-12-09T22:04:53Z</dcterms:modified>
</cp:coreProperties>
</file>