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2" r:id="rId6"/>
    <p:sldId id="263" r:id="rId7"/>
    <p:sldId id="261" r:id="rId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0" d="100"/>
          <a:sy n="60" d="100"/>
        </p:scale>
        <p:origin x="78" y="11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C394226-DD7B-3599-8736-34160F7F80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839DEB6E-FB3E-8C05-9630-860D01E18B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09430E3-26A7-F995-EAD6-B4C6E8B0A8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31AA2A-E8B1-4CEB-9B75-D4DB861D2839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AF94394-B30C-EECC-9096-E1B70421B9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23FC57A-C3BB-5447-99FD-EF46DDB6F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23F0D-E4BA-42F8-962D-694499B6BF1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371839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BD297EB-781F-81AF-11ED-67E3195CA0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F074D9E-952B-81A6-0472-F4A44CA4FF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658A055-19CE-169F-27B9-AF0E107933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31AA2A-E8B1-4CEB-9B75-D4DB861D2839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1015645-759C-E2C9-3FBE-F352682230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6DDCBC4-8FF9-EFDC-17C8-29CFC4D417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23F0D-E4BA-42F8-962D-694499B6BF1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806330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C8D1FCC-40A4-CDD0-2DF3-A7289A8D6E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5C8E8EB-5CE7-E51A-32F1-8F99AD2145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87362E9-1296-155C-BB50-DA663C16AB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31AA2A-E8B1-4CEB-9B75-D4DB861D2839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DF0384A-EF8C-3B21-BB57-5B4DF0B1AE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336F23F-EC52-FB5A-F2C2-AD95E5651B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23F0D-E4BA-42F8-962D-694499B6BF1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31794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E68B542-3E9D-6754-113F-2B4356BFE7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3407EA1-1455-4DB5-A4A6-022204CE9F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49195E9-A667-1C58-1876-19459FF9F1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DD42C34-80C2-29F8-3FF1-AB3006856F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31AA2A-E8B1-4CEB-9B75-D4DB861D2839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985D243-06AB-D45E-6804-9DF16CCF2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E360FA9-4A2D-BE23-F97E-A90C0789B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23F0D-E4BA-42F8-962D-694499B6BF1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057305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CE7AEB-19C1-FB07-87CD-8EA768200F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8079C34-7BFF-5C7D-1FB7-BEFAFDB709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FC58B215-A141-5387-DE19-794AFACEDE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2FD11AF-2BF1-3FFF-B594-7658E75F978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2AAC753F-E1C1-F440-A12F-0DB3A895CB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DBE2F5B6-35F9-F529-D595-584FD9F13E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31AA2A-E8B1-4CEB-9B75-D4DB861D2839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AD72C347-CCF5-FF67-B7DB-3EC307F8CF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96961EF2-8512-11B5-BA8F-A6EEC8768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23F0D-E4BA-42F8-962D-694499B6BF1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800241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BFB937-B169-D06A-6787-48F76938FB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F80AA072-6925-B033-D629-6A08AFF934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31AA2A-E8B1-4CEB-9B75-D4DB861D2839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7A6CB5F-1090-DF5B-B844-833ED472AB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C284555-7C7A-920E-ADD7-27889991D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23F0D-E4BA-42F8-962D-694499B6BF1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125298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822476EC-EC53-22D8-E676-88FB99A79E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31AA2A-E8B1-4CEB-9B75-D4DB861D2839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28FDDC53-34BC-1CEA-6F37-C96A956207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390063D-4AB5-3579-C591-44E37529B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23F0D-E4BA-42F8-962D-694499B6BF1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19184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2F16445-AE5E-B1E7-C76C-4ACE1C7197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ED2DC1A-0E56-D1BA-64F2-C14E6A2D9A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84C28345-ED8B-77FB-AA94-5A9BDD346F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7BA4DCB-6C46-0853-463A-DAFD4D3FC4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31AA2A-E8B1-4CEB-9B75-D4DB861D2839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000CD52-AD9D-D34D-DAF5-98882A3E7F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3B44E8E-092F-EEF7-AC82-9FD72EAB68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23F0D-E4BA-42F8-962D-694499B6BF1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124198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802274-BEA1-FF6E-FBBC-F3DFC0C2E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54D036E3-11D2-E29C-14DC-AFC3F57012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986FE417-DFE1-64A2-C567-A353429FA4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A2B1ED6-13DA-36DC-E555-BAD6FE4319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31AA2A-E8B1-4CEB-9B75-D4DB861D2839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F1DC265-078B-55DE-F6B0-C2C402B614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69273A4-266D-7464-4C54-71AEB188C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23F0D-E4BA-42F8-962D-694499B6BF1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10577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455A14A-58F6-BCC8-F756-5CF845AF18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EACD841-159B-0222-689D-6AE67AF91F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8F1BE73-9045-D3A7-2B31-BDBEB96D7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31AA2A-E8B1-4CEB-9B75-D4DB861D2839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54E1887-E8FC-FE95-7BB4-A8E56ACCF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4773BF7-466F-FA36-4B7C-D5CE4223C0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23F0D-E4BA-42F8-962D-694499B6BF1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268430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852987C5-D07D-F5C0-0946-66DE61E4E06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D9E19EA3-EA3A-EAC4-FAE5-FC2B9F3D5D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5CB989E-766F-98EF-FAF1-B974A06AE8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31AA2A-E8B1-4CEB-9B75-D4DB861D2839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A91030-0823-11DE-ED62-A034A18C0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2F82157-262E-2430-75B4-BEB330595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23F0D-E4BA-42F8-962D-694499B6BF1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566486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98B072F-B3F9-6BB3-5231-737E00935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37AAA10-0A0A-5431-E4BE-E6D960FEDD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0122564-CE70-871C-C156-38793A8412D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31AA2A-E8B1-4CEB-9B75-D4DB861D2839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1B2D08E-1E31-F07C-14FA-9BF1D8E96C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BDF1161-BE94-CD87-75A9-FF68157EBE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C23F0D-E4BA-42F8-962D-694499B6BF1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839405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 descr="Изображение выглядит как Графика, Шрифт, логотип, графический дизай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D6E5D244-B396-8715-E3ED-3B66224C3E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3527" y="616628"/>
            <a:ext cx="4014819" cy="170385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54C05F1-B4E0-AEC4-34E2-B6BA7FE73D16}"/>
              </a:ext>
            </a:extLst>
          </p:cNvPr>
          <p:cNvSpPr txBox="1"/>
          <p:nvPr/>
        </p:nvSpPr>
        <p:spPr>
          <a:xfrm>
            <a:off x="5990726" y="755809"/>
            <a:ext cx="453866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0" dirty="0">
                <a:latin typeface="MV-SKIFER" pitchFamily="50" charset="0"/>
              </a:rPr>
              <a:t>PULSE</a:t>
            </a:r>
            <a:endParaRPr lang="ru-RU" sz="9000" dirty="0">
              <a:latin typeface="MV-SKIFER" pitchFamily="50" charset="0"/>
            </a:endParaRPr>
          </a:p>
        </p:txBody>
      </p:sp>
      <p:pic>
        <p:nvPicPr>
          <p:cNvPr id="8" name="Рисунок 7" descr="Изображение выглядит как черный, темнот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F8583E2B-C2DC-CC19-5A21-72DC113D77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5461" y="-832190"/>
            <a:ext cx="1027031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5493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Прямоугольник: скругленные углы 14">
            <a:extLst>
              <a:ext uri="{FF2B5EF4-FFF2-40B4-BE49-F238E27FC236}">
                <a16:creationId xmlns:a16="http://schemas.microsoft.com/office/drawing/2014/main" id="{76975C31-7578-EE11-0808-67950D89C400}"/>
              </a:ext>
            </a:extLst>
          </p:cNvPr>
          <p:cNvSpPr/>
          <p:nvPr/>
        </p:nvSpPr>
        <p:spPr>
          <a:xfrm>
            <a:off x="5970035" y="4340580"/>
            <a:ext cx="5568024" cy="785446"/>
          </a:xfrm>
          <a:prstGeom prst="roundRect">
            <a:avLst/>
          </a:prstGeom>
          <a:solidFill>
            <a:schemeClr val="tx1">
              <a:alpha val="1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41BA4BB5-51D9-FFF4-39EE-14B4359E69A8}"/>
              </a:ext>
            </a:extLst>
          </p:cNvPr>
          <p:cNvSpPr/>
          <p:nvPr/>
        </p:nvSpPr>
        <p:spPr>
          <a:xfrm>
            <a:off x="5953802" y="3248388"/>
            <a:ext cx="5568024" cy="796294"/>
          </a:xfrm>
          <a:prstGeom prst="roundRect">
            <a:avLst/>
          </a:prstGeom>
          <a:solidFill>
            <a:schemeClr val="tx1">
              <a:alpha val="1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81BBA5-128D-E162-274D-630967FE1B8B}"/>
              </a:ext>
            </a:extLst>
          </p:cNvPr>
          <p:cNvSpPr txBox="1"/>
          <p:nvPr/>
        </p:nvSpPr>
        <p:spPr>
          <a:xfrm>
            <a:off x="5986268" y="3323369"/>
            <a:ext cx="55517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Предоставление набора готовых и гибких элементов управления</a:t>
            </a:r>
            <a:endParaRPr lang="ru-RU" dirty="0">
              <a:solidFill>
                <a:schemeClr val="bg1"/>
              </a:solidFill>
              <a:effectLst>
                <a:outerShdw blurRad="190500" dist="50800" dir="5400000" sx="5000" sy="5000" algn="ctr" rotWithShape="0">
                  <a:srgbClr val="000000">
                    <a:alpha val="43137"/>
                  </a:srgbClr>
                </a:outerShdw>
              </a:effectLst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BD7BDF51-96FD-3C43-57AB-FADD5E91A1AE}"/>
              </a:ext>
            </a:extLst>
          </p:cNvPr>
          <p:cNvSpPr/>
          <p:nvPr/>
        </p:nvSpPr>
        <p:spPr>
          <a:xfrm>
            <a:off x="5953802" y="5421924"/>
            <a:ext cx="5568024" cy="711087"/>
          </a:xfrm>
          <a:prstGeom prst="roundRect">
            <a:avLst/>
          </a:prstGeom>
          <a:solidFill>
            <a:schemeClr val="tx1">
              <a:alpha val="1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42033E-23BB-B152-99B6-2A17E8EC153E}"/>
              </a:ext>
            </a:extLst>
          </p:cNvPr>
          <p:cNvSpPr txBox="1"/>
          <p:nvPr/>
        </p:nvSpPr>
        <p:spPr>
          <a:xfrm>
            <a:off x="5809284" y="5421924"/>
            <a:ext cx="57125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Ускорение процесса разработки сложных пользовательских интерфейсов</a:t>
            </a:r>
            <a:endParaRPr lang="ru-RU" dirty="0">
              <a:solidFill>
                <a:schemeClr val="bg1"/>
              </a:solidFill>
              <a:effectLst>
                <a:outerShdw blurRad="190500" dist="50800" dir="5400000" sx="5000" sy="5000" algn="ctr" rotWithShape="0">
                  <a:srgbClr val="000000">
                    <a:alpha val="43137"/>
                  </a:srgbClr>
                </a:outerShdw>
              </a:effectLst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A8662DA-2923-ABA8-6684-4AD10EA253A9}"/>
              </a:ext>
            </a:extLst>
          </p:cNvPr>
          <p:cNvSpPr txBox="1"/>
          <p:nvPr/>
        </p:nvSpPr>
        <p:spPr>
          <a:xfrm>
            <a:off x="412033" y="444176"/>
            <a:ext cx="11270544" cy="26314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5500" dirty="0">
                <a:solidFill>
                  <a:schemeClr val="bg1"/>
                </a:solidFill>
                <a:latin typeface="Impact" panose="020B0806030902050204" pitchFamily="34" charset="0"/>
              </a:rPr>
              <a:t>Цель проекта </a:t>
            </a:r>
            <a:r>
              <a:rPr lang="ru-RU" sz="5500" dirty="0" smtClean="0">
                <a:solidFill>
                  <a:schemeClr val="bg1"/>
                </a:solidFill>
                <a:latin typeface="Impact" panose="020B0806030902050204" pitchFamily="34" charset="0"/>
              </a:rPr>
              <a:t>- </a:t>
            </a:r>
            <a:r>
              <a:rPr lang="ru-RU" sz="5500" dirty="0">
                <a:solidFill>
                  <a:schemeClr val="bg1"/>
                </a:solidFill>
                <a:latin typeface="Impact" panose="020B0806030902050204" pitchFamily="34" charset="0"/>
              </a:rPr>
              <a:t>упростить создание </a:t>
            </a:r>
            <a:r>
              <a:rPr lang="ru-RU" sz="5500" dirty="0" smtClean="0">
                <a:solidFill>
                  <a:schemeClr val="bg1"/>
                </a:solidFill>
                <a:latin typeface="Impact" panose="020B0806030902050204" pitchFamily="34" charset="0"/>
              </a:rPr>
              <a:t>интерфейсов </a:t>
            </a:r>
            <a:r>
              <a:rPr lang="ru-RU" sz="5500" dirty="0">
                <a:solidFill>
                  <a:schemeClr val="bg1"/>
                </a:solidFill>
                <a:latin typeface="Impact" panose="020B0806030902050204" pitchFamily="34" charset="0"/>
              </a:rPr>
              <a:t>и повысить продуктивность команды</a:t>
            </a:r>
            <a:endParaRPr lang="ru-RU" sz="5500" dirty="0">
              <a:solidFill>
                <a:schemeClr val="bg1"/>
              </a:solidFill>
              <a:effectLst>
                <a:outerShdw blurRad="190500" dist="50800" dir="5400000" sx="5000" sy="5000" algn="ctr" rotWithShape="0">
                  <a:srgbClr val="000000">
                    <a:alpha val="43137"/>
                  </a:srgbClr>
                </a:outerShdw>
              </a:effectLst>
              <a:latin typeface="Impact" panose="020B080603090205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381BBA5-128D-E162-274D-630967FE1B8B}"/>
              </a:ext>
            </a:extLst>
          </p:cNvPr>
          <p:cNvSpPr txBox="1"/>
          <p:nvPr/>
        </p:nvSpPr>
        <p:spPr>
          <a:xfrm>
            <a:off x="5978151" y="4410137"/>
            <a:ext cx="55517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Обеспечение совместимости с современными архитектурами приложений</a:t>
            </a:r>
            <a:endParaRPr lang="ru-RU" dirty="0">
              <a:solidFill>
                <a:schemeClr val="bg1"/>
              </a:solidFill>
              <a:effectLst>
                <a:outerShdw blurRad="190500" dist="50800" dir="5400000" sx="5000" sy="5000" algn="ctr" rotWithShape="0">
                  <a:srgbClr val="000000">
                    <a:alpha val="43137"/>
                  </a:srgbClr>
                </a:outerShdw>
              </a:effectLst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16" name="Рисунок 15" descr="Изображение выглядит как Графика, Шрифт, логотип, графический дизай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D6E5D244-B396-8715-E3ED-3B66224C3E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033" y="4364405"/>
            <a:ext cx="4014819" cy="1703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21890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0F889804-B560-9B7D-04AB-4F087F49A272}"/>
              </a:ext>
            </a:extLst>
          </p:cNvPr>
          <p:cNvSpPr/>
          <p:nvPr/>
        </p:nvSpPr>
        <p:spPr>
          <a:xfrm>
            <a:off x="491697" y="339286"/>
            <a:ext cx="5183390" cy="1204684"/>
          </a:xfrm>
          <a:prstGeom prst="roundRect">
            <a:avLst/>
          </a:prstGeom>
          <a:solidFill>
            <a:schemeClr val="tx1">
              <a:alpha val="39000"/>
            </a:schemeClr>
          </a:solidFill>
          <a:ln>
            <a:noFill/>
          </a:ln>
          <a:effectLst>
            <a:glow rad="88900">
              <a:schemeClr val="tx1">
                <a:alpha val="40000"/>
              </a:schemeClr>
            </a:glow>
            <a:outerShdw blurRad="2794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0" dirty="0" smtClean="0">
                <a:latin typeface="Impact" panose="020B0806030902050204" pitchFamily="34" charset="0"/>
              </a:rPr>
              <a:t>Основные функции</a:t>
            </a:r>
            <a:endParaRPr lang="ru-RU" sz="4000" dirty="0">
              <a:latin typeface="Impact" panose="020B0806030902050204" pitchFamily="34" charset="0"/>
            </a:endParaRP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1DF0C638-DF91-3A03-983C-A933E6211450}"/>
              </a:ext>
            </a:extLst>
          </p:cNvPr>
          <p:cNvSpPr/>
          <p:nvPr/>
        </p:nvSpPr>
        <p:spPr>
          <a:xfrm>
            <a:off x="491696" y="1915244"/>
            <a:ext cx="5183390" cy="4518374"/>
          </a:xfrm>
          <a:prstGeom prst="roundRect">
            <a:avLst/>
          </a:prstGeom>
          <a:solidFill>
            <a:schemeClr val="tx1">
              <a:lumMod val="65000"/>
              <a:lumOff val="35000"/>
              <a:alpha val="2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C6299D-9E81-E308-2730-26A556431F1B}"/>
              </a:ext>
            </a:extLst>
          </p:cNvPr>
          <p:cNvSpPr txBox="1"/>
          <p:nvPr/>
        </p:nvSpPr>
        <p:spPr>
          <a:xfrm>
            <a:off x="3045300" y="2050887"/>
            <a:ext cx="16147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MV-SKIFER" pitchFamily="50" charset="0"/>
              </a:rPr>
              <a:t>PULSE</a:t>
            </a:r>
            <a:endParaRPr lang="ru-RU" sz="2800" dirty="0">
              <a:latin typeface="MV-SKIFER" pitchFamily="50" charset="0"/>
            </a:endParaRPr>
          </a:p>
        </p:txBody>
      </p:sp>
      <p:pic>
        <p:nvPicPr>
          <p:cNvPr id="8" name="Рисунок 7" descr="Изображение выглядит как Графика, Шрифт, логотип, графический дизай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B9A4A1B8-7386-446A-F629-4F617B004D87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6805" y="2008789"/>
            <a:ext cx="1400472" cy="594346"/>
          </a:xfrm>
          <a:prstGeom prst="rect">
            <a:avLst/>
          </a:prstGeom>
        </p:spPr>
      </p:pic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07FF32C9-B360-4934-0FBE-8DED783D0D2F}"/>
              </a:ext>
            </a:extLst>
          </p:cNvPr>
          <p:cNvSpPr/>
          <p:nvPr/>
        </p:nvSpPr>
        <p:spPr>
          <a:xfrm>
            <a:off x="627790" y="2657793"/>
            <a:ext cx="4855503" cy="3579209"/>
          </a:xfrm>
          <a:prstGeom prst="roundRect">
            <a:avLst/>
          </a:prstGeom>
          <a:solidFill>
            <a:schemeClr val="bg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base"/>
            <a:r>
              <a:rPr lang="en-US" sz="20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&gt; </a:t>
            </a:r>
            <a:r>
              <a:rPr lang="ru-RU" sz="20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Поддержку </a:t>
            </a:r>
            <a:r>
              <a:rPr lang="ru-RU" sz="2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современных </a:t>
            </a:r>
            <a:r>
              <a:rPr lang="ru-RU" sz="20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UI-паттернов</a:t>
            </a:r>
            <a:endParaRPr lang="en-US" sz="2000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fontAlgn="base"/>
            <a:endParaRPr lang="ru-RU" sz="2000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fontAlgn="base"/>
            <a:r>
              <a:rPr lang="en-US" sz="20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&gt; </a:t>
            </a:r>
            <a:r>
              <a:rPr lang="ru-RU" sz="20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Легкая </a:t>
            </a:r>
            <a:r>
              <a:rPr lang="ru-RU" sz="2000" dirty="0" err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кастомизация</a:t>
            </a:r>
            <a:r>
              <a:rPr lang="ru-RU" sz="20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ru-RU" sz="2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стилей и шаблонов </a:t>
            </a:r>
            <a:r>
              <a:rPr lang="ru-RU" sz="20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элементов</a:t>
            </a:r>
            <a:endParaRPr lang="en-US" sz="2000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fontAlgn="base"/>
            <a:endParaRPr lang="ru-RU" sz="20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fontAlgn="base"/>
            <a:r>
              <a:rPr lang="en-US" sz="20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&gt; </a:t>
            </a:r>
            <a:r>
              <a:rPr lang="ru-RU" sz="20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Оптимизированная работа </a:t>
            </a:r>
            <a:r>
              <a:rPr lang="ru-RU" sz="2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с </a:t>
            </a:r>
            <a:r>
              <a:rPr lang="ru-RU" sz="20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анимациями</a:t>
            </a:r>
            <a:r>
              <a:rPr lang="ru-RU" sz="2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и </a:t>
            </a:r>
            <a:r>
              <a:rPr lang="ru-RU" sz="20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графикой</a:t>
            </a:r>
            <a:endParaRPr lang="en-US" sz="2000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fontAlgn="base"/>
            <a:endParaRPr lang="ru-RU" sz="20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fontAlgn="base"/>
            <a:r>
              <a:rPr lang="en-US" sz="20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&gt; </a:t>
            </a:r>
            <a:r>
              <a:rPr lang="ru-RU" sz="20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Совместимость </a:t>
            </a:r>
            <a:r>
              <a:rPr lang="ru-RU" sz="2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с различными платформами </a:t>
            </a:r>
            <a:r>
              <a:rPr lang="ru-RU" sz="2000" dirty="0" err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Windows</a:t>
            </a:r>
            <a:endParaRPr lang="ru-RU" sz="20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72DB36C6-FB03-FD2D-24D3-390712CD7DC5}"/>
              </a:ext>
            </a:extLst>
          </p:cNvPr>
          <p:cNvSpPr/>
          <p:nvPr/>
        </p:nvSpPr>
        <p:spPr>
          <a:xfrm>
            <a:off x="5885706" y="4047037"/>
            <a:ext cx="6047747" cy="842582"/>
          </a:xfrm>
          <a:prstGeom prst="roundRect">
            <a:avLst/>
          </a:prstGeom>
          <a:solidFill>
            <a:schemeClr val="bg1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>
                    <a:lumMod val="95000"/>
                    <a:lumOff val="5000"/>
                  </a:schemeClr>
                </a:solidFill>
              </a:rPr>
              <a:t>Возможность быстрого </a:t>
            </a:r>
            <a:r>
              <a:rPr lang="ru-RU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прототипирования</a:t>
            </a:r>
            <a:r>
              <a:rPr lang="ru-RU" dirty="0">
                <a:solidFill>
                  <a:schemeClr val="tx1">
                    <a:lumMod val="95000"/>
                    <a:lumOff val="5000"/>
                  </a:schemeClr>
                </a:solidFill>
              </a:rPr>
              <a:t> интерфейсов благодаря широкому спектру предустановленных </a:t>
            </a:r>
            <a:r>
              <a:rPr lang="ru-RU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контроллеров</a:t>
            </a:r>
            <a:endParaRPr lang="ru-RU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3" name="Овал 12">
            <a:extLst>
              <a:ext uri="{FF2B5EF4-FFF2-40B4-BE49-F238E27FC236}">
                <a16:creationId xmlns:a16="http://schemas.microsoft.com/office/drawing/2014/main" id="{FF21678A-E43F-B292-609B-595556D35D09}"/>
              </a:ext>
            </a:extLst>
          </p:cNvPr>
          <p:cNvSpPr/>
          <p:nvPr/>
        </p:nvSpPr>
        <p:spPr>
          <a:xfrm>
            <a:off x="8742664" y="4943715"/>
            <a:ext cx="333829" cy="333829"/>
          </a:xfrm>
          <a:prstGeom prst="ellipse">
            <a:avLst/>
          </a:prstGeom>
          <a:solidFill>
            <a:srgbClr val="97EA2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: скругленные углы 9">
            <a:extLst>
              <a:ext uri="{FF2B5EF4-FFF2-40B4-BE49-F238E27FC236}">
                <a16:creationId xmlns:a16="http://schemas.microsoft.com/office/drawing/2014/main" id="{72DB36C6-FB03-FD2D-24D3-390712CD7DC5}"/>
              </a:ext>
            </a:extLst>
          </p:cNvPr>
          <p:cNvSpPr/>
          <p:nvPr/>
        </p:nvSpPr>
        <p:spPr>
          <a:xfrm>
            <a:off x="5885703" y="2761291"/>
            <a:ext cx="6047747" cy="842582"/>
          </a:xfrm>
          <a:prstGeom prst="roundRect">
            <a:avLst/>
          </a:prstGeom>
          <a:solidFill>
            <a:schemeClr val="bg1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>
                    <a:lumMod val="95000"/>
                    <a:lumOff val="5000"/>
                  </a:schemeClr>
                </a:solidFill>
              </a:rPr>
              <a:t>Полностью настраиваемые элементы управления (поддерживаются XAML-стили и </a:t>
            </a:r>
            <a:r>
              <a:rPr lang="ru-RU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DataTemplates</a:t>
            </a:r>
            <a:r>
              <a:rPr lang="ru-RU" dirty="0">
                <a:solidFill>
                  <a:schemeClr val="tx1">
                    <a:lumMod val="95000"/>
                    <a:lumOff val="5000"/>
                  </a:schemeClr>
                </a:solidFill>
              </a:rPr>
              <a:t>)</a:t>
            </a:r>
            <a:endParaRPr lang="ru-RU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6" name="Прямоугольник: скругленные углы 9">
            <a:extLst>
              <a:ext uri="{FF2B5EF4-FFF2-40B4-BE49-F238E27FC236}">
                <a16:creationId xmlns:a16="http://schemas.microsoft.com/office/drawing/2014/main" id="{72DB36C6-FB03-FD2D-24D3-390712CD7DC5}"/>
              </a:ext>
            </a:extLst>
          </p:cNvPr>
          <p:cNvSpPr/>
          <p:nvPr/>
        </p:nvSpPr>
        <p:spPr>
          <a:xfrm>
            <a:off x="5885703" y="1463380"/>
            <a:ext cx="6047747" cy="842582"/>
          </a:xfrm>
          <a:prstGeom prst="roundRect">
            <a:avLst/>
          </a:prstGeom>
          <a:solidFill>
            <a:schemeClr val="bg1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Автоматическое обновление элементов интерфейса в зависимости от состояния модели данных</a:t>
            </a:r>
            <a:endParaRPr lang="ru-RU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7" name="Прямоугольник: скругленные углы 9">
            <a:extLst>
              <a:ext uri="{FF2B5EF4-FFF2-40B4-BE49-F238E27FC236}">
                <a16:creationId xmlns:a16="http://schemas.microsoft.com/office/drawing/2014/main" id="{72DB36C6-FB03-FD2D-24D3-390712CD7DC5}"/>
              </a:ext>
            </a:extLst>
          </p:cNvPr>
          <p:cNvSpPr/>
          <p:nvPr/>
        </p:nvSpPr>
        <p:spPr>
          <a:xfrm>
            <a:off x="5885706" y="5335721"/>
            <a:ext cx="6047747" cy="842582"/>
          </a:xfrm>
          <a:prstGeom prst="roundRect">
            <a:avLst/>
          </a:prstGeom>
          <a:solidFill>
            <a:schemeClr val="bg1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>
                    <a:lumMod val="95000"/>
                    <a:lumOff val="5000"/>
                  </a:schemeClr>
                </a:solidFill>
              </a:rPr>
              <a:t>Простота интеграции с существующими приложениями благодаря открытому API</a:t>
            </a:r>
            <a:endParaRPr lang="ru-RU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8" name="Овал 17">
            <a:extLst>
              <a:ext uri="{FF2B5EF4-FFF2-40B4-BE49-F238E27FC236}">
                <a16:creationId xmlns:a16="http://schemas.microsoft.com/office/drawing/2014/main" id="{FF21678A-E43F-B292-609B-595556D35D09}"/>
              </a:ext>
            </a:extLst>
          </p:cNvPr>
          <p:cNvSpPr/>
          <p:nvPr/>
        </p:nvSpPr>
        <p:spPr>
          <a:xfrm>
            <a:off x="8742663" y="3657969"/>
            <a:ext cx="333829" cy="333829"/>
          </a:xfrm>
          <a:prstGeom prst="ellipse">
            <a:avLst/>
          </a:prstGeom>
          <a:solidFill>
            <a:srgbClr val="97EA2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Овал 18">
            <a:extLst>
              <a:ext uri="{FF2B5EF4-FFF2-40B4-BE49-F238E27FC236}">
                <a16:creationId xmlns:a16="http://schemas.microsoft.com/office/drawing/2014/main" id="{FF21678A-E43F-B292-609B-595556D35D09}"/>
              </a:ext>
            </a:extLst>
          </p:cNvPr>
          <p:cNvSpPr/>
          <p:nvPr/>
        </p:nvSpPr>
        <p:spPr>
          <a:xfrm>
            <a:off x="8742663" y="2366712"/>
            <a:ext cx="333829" cy="333829"/>
          </a:xfrm>
          <a:prstGeom prst="ellipse">
            <a:avLst/>
          </a:prstGeom>
          <a:solidFill>
            <a:srgbClr val="97EA2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671665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: скругленные углы 13">
            <a:extLst>
              <a:ext uri="{FF2B5EF4-FFF2-40B4-BE49-F238E27FC236}">
                <a16:creationId xmlns:a16="http://schemas.microsoft.com/office/drawing/2014/main" id="{41BA4BB5-51D9-FFF4-39EE-14B4359E69A8}"/>
              </a:ext>
            </a:extLst>
          </p:cNvPr>
          <p:cNvSpPr/>
          <p:nvPr/>
        </p:nvSpPr>
        <p:spPr>
          <a:xfrm>
            <a:off x="290287" y="2116273"/>
            <a:ext cx="8360228" cy="917212"/>
          </a:xfrm>
          <a:prstGeom prst="roundRect">
            <a:avLst/>
          </a:prstGeom>
          <a:solidFill>
            <a:schemeClr val="tx1">
              <a:alpha val="1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81BBA5-128D-E162-274D-630967FE1B8B}"/>
              </a:ext>
            </a:extLst>
          </p:cNvPr>
          <p:cNvSpPr txBox="1"/>
          <p:nvPr/>
        </p:nvSpPr>
        <p:spPr>
          <a:xfrm>
            <a:off x="392286" y="2251713"/>
            <a:ext cx="81562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b="1" dirty="0">
                <a:solidFill>
                  <a:schemeClr val="bg1"/>
                </a:solidFill>
              </a:rPr>
              <a:t>Автоматизированное тестирование</a:t>
            </a:r>
            <a:r>
              <a:rPr lang="ru-RU" dirty="0">
                <a:solidFill>
                  <a:schemeClr val="bg1"/>
                </a:solidFill>
              </a:rPr>
              <a:t>: автоматизированные тесты покрывают основную функциональность каждого компонента</a:t>
            </a:r>
            <a:endParaRPr lang="ru-RU" dirty="0">
              <a:solidFill>
                <a:schemeClr val="bg1"/>
              </a:solidFill>
              <a:effectLst>
                <a:outerShdw blurRad="190500" dist="50800" dir="5400000" sx="5000" sy="5000" algn="ctr" rotWithShape="0">
                  <a:srgbClr val="000000">
                    <a:alpha val="43137"/>
                  </a:srgbClr>
                </a:outerShdw>
              </a:effectLst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6" name="Прямоугольник: скругленные углы 4">
            <a:extLst>
              <a:ext uri="{FF2B5EF4-FFF2-40B4-BE49-F238E27FC236}">
                <a16:creationId xmlns:a16="http://schemas.microsoft.com/office/drawing/2014/main" id="{0F889804-B560-9B7D-04AB-4F087F49A272}"/>
              </a:ext>
            </a:extLst>
          </p:cNvPr>
          <p:cNvSpPr/>
          <p:nvPr/>
        </p:nvSpPr>
        <p:spPr>
          <a:xfrm>
            <a:off x="5986268" y="353800"/>
            <a:ext cx="5909103" cy="1204684"/>
          </a:xfrm>
          <a:prstGeom prst="roundRect">
            <a:avLst/>
          </a:prstGeom>
          <a:solidFill>
            <a:schemeClr val="tx1">
              <a:alpha val="39000"/>
            </a:schemeClr>
          </a:solidFill>
          <a:ln>
            <a:noFill/>
          </a:ln>
          <a:effectLst>
            <a:glow rad="88900">
              <a:schemeClr val="tx1">
                <a:alpha val="40000"/>
              </a:schemeClr>
            </a:glow>
            <a:outerShdw blurRad="2794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0" dirty="0" smtClean="0">
                <a:latin typeface="Impact" panose="020B0806030902050204" pitchFamily="34" charset="0"/>
              </a:rPr>
              <a:t>Процесс тестирования</a:t>
            </a:r>
            <a:endParaRPr lang="ru-RU" sz="4000" dirty="0">
              <a:latin typeface="Impact" panose="020B0806030902050204" pitchFamily="34" charset="0"/>
            </a:endParaRPr>
          </a:p>
        </p:txBody>
      </p:sp>
      <p:sp>
        <p:nvSpPr>
          <p:cNvPr id="7" name="Прямоугольник: скругленные углы 13">
            <a:extLst>
              <a:ext uri="{FF2B5EF4-FFF2-40B4-BE49-F238E27FC236}">
                <a16:creationId xmlns:a16="http://schemas.microsoft.com/office/drawing/2014/main" id="{41BA4BB5-51D9-FFF4-39EE-14B4359E69A8}"/>
              </a:ext>
            </a:extLst>
          </p:cNvPr>
          <p:cNvSpPr/>
          <p:nvPr/>
        </p:nvSpPr>
        <p:spPr>
          <a:xfrm>
            <a:off x="296669" y="3591274"/>
            <a:ext cx="8360228" cy="917212"/>
          </a:xfrm>
          <a:prstGeom prst="roundRect">
            <a:avLst/>
          </a:prstGeom>
          <a:solidFill>
            <a:schemeClr val="tx1">
              <a:alpha val="1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381BBA5-128D-E162-274D-630967FE1B8B}"/>
              </a:ext>
            </a:extLst>
          </p:cNvPr>
          <p:cNvSpPr txBox="1"/>
          <p:nvPr/>
        </p:nvSpPr>
        <p:spPr>
          <a:xfrm>
            <a:off x="296669" y="3591274"/>
            <a:ext cx="82518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b="1" dirty="0">
                <a:solidFill>
                  <a:schemeClr val="bg1"/>
                </a:solidFill>
              </a:rPr>
              <a:t>Нагрузочные испытания</a:t>
            </a:r>
            <a:r>
              <a:rPr lang="ru-RU" dirty="0">
                <a:solidFill>
                  <a:schemeClr val="bg1"/>
                </a:solidFill>
              </a:rPr>
              <a:t>: проверка стабильности системы при работе с большими объемами данных и множеством одновременных операций</a:t>
            </a:r>
            <a:endParaRPr lang="ru-RU" dirty="0">
              <a:solidFill>
                <a:schemeClr val="bg1"/>
              </a:solidFill>
              <a:effectLst>
                <a:outerShdw blurRad="190500" dist="50800" dir="5400000" sx="5000" sy="5000" algn="ctr" rotWithShape="0">
                  <a:srgbClr val="000000">
                    <a:alpha val="43137"/>
                  </a:srgbClr>
                </a:outerShdw>
              </a:effectLst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0" name="Прямоугольник: скругленные углы 13">
            <a:extLst>
              <a:ext uri="{FF2B5EF4-FFF2-40B4-BE49-F238E27FC236}">
                <a16:creationId xmlns:a16="http://schemas.microsoft.com/office/drawing/2014/main" id="{41BA4BB5-51D9-FFF4-39EE-14B4359E69A8}"/>
              </a:ext>
            </a:extLst>
          </p:cNvPr>
          <p:cNvSpPr/>
          <p:nvPr/>
        </p:nvSpPr>
        <p:spPr>
          <a:xfrm>
            <a:off x="296669" y="5066275"/>
            <a:ext cx="8360228" cy="646331"/>
          </a:xfrm>
          <a:prstGeom prst="roundRect">
            <a:avLst/>
          </a:prstGeom>
          <a:solidFill>
            <a:schemeClr val="tx1">
              <a:alpha val="1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381BBA5-128D-E162-274D-630967FE1B8B}"/>
              </a:ext>
            </a:extLst>
          </p:cNvPr>
          <p:cNvSpPr txBox="1"/>
          <p:nvPr/>
        </p:nvSpPr>
        <p:spPr>
          <a:xfrm>
            <a:off x="296669" y="5066275"/>
            <a:ext cx="82518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b="1" dirty="0">
                <a:solidFill>
                  <a:schemeClr val="bg1"/>
                </a:solidFill>
              </a:rPr>
              <a:t>Регрессионное тестирование</a:t>
            </a:r>
            <a:r>
              <a:rPr lang="ru-RU" dirty="0">
                <a:solidFill>
                  <a:schemeClr val="bg1"/>
                </a:solidFill>
              </a:rPr>
              <a:t>: регулярная проверка работоспособности ранее протестированных функций</a:t>
            </a:r>
            <a:endParaRPr lang="ru-RU" dirty="0">
              <a:solidFill>
                <a:schemeClr val="bg1"/>
              </a:solidFill>
              <a:effectLst>
                <a:outerShdw blurRad="190500" dist="50800" dir="5400000" sx="5000" sy="5000" algn="ctr" rotWithShape="0">
                  <a:srgbClr val="000000">
                    <a:alpha val="43137"/>
                  </a:srgbClr>
                </a:outerShdw>
              </a:effectLst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1026" name="Picture 2" descr="SmartBear TestComplete · GitHub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22766" y="3312379"/>
            <a:ext cx="1650205" cy="1557110"/>
          </a:xfrm>
          <a:prstGeom prst="rect">
            <a:avLst/>
          </a:prstGeom>
          <a:noFill/>
          <a:effectLst>
            <a:softEdge rad="3175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oq · GitHub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58990" y="1755269"/>
            <a:ext cx="1687738" cy="1557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xUnit.net · GitHub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58990" y="4869489"/>
            <a:ext cx="1822555" cy="18225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55488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SciChart - the Fastest WPF Chart. 2021 Performance Comparison Updat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23034" y="1558484"/>
            <a:ext cx="9392503" cy="50631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0F889804-B560-9B7D-04AB-4F087F49A272}"/>
              </a:ext>
            </a:extLst>
          </p:cNvPr>
          <p:cNvSpPr/>
          <p:nvPr/>
        </p:nvSpPr>
        <p:spPr>
          <a:xfrm>
            <a:off x="2887580" y="161294"/>
            <a:ext cx="6152297" cy="1204684"/>
          </a:xfrm>
          <a:prstGeom prst="roundRect">
            <a:avLst/>
          </a:prstGeom>
          <a:solidFill>
            <a:schemeClr val="tx1">
              <a:alpha val="39000"/>
            </a:schemeClr>
          </a:solidFill>
          <a:ln>
            <a:noFill/>
          </a:ln>
          <a:effectLst>
            <a:glow rad="88900">
              <a:schemeClr val="tx1">
                <a:alpha val="40000"/>
              </a:schemeClr>
            </a:glow>
            <a:outerShdw blurRad="2794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0" dirty="0" smtClean="0">
                <a:latin typeface="Impact" panose="020B0806030902050204" pitchFamily="34" charset="0"/>
              </a:rPr>
              <a:t>Результаты тестирования</a:t>
            </a:r>
            <a:endParaRPr lang="ru-RU" sz="4000" dirty="0">
              <a:latin typeface="Impact" panose="020B0806030902050204" pitchFamily="34" charset="0"/>
            </a:endParaRPr>
          </a:p>
        </p:txBody>
      </p:sp>
      <p:sp>
        <p:nvSpPr>
          <p:cNvPr id="7" name="Прямоугольник: скругленные углы 9">
            <a:extLst>
              <a:ext uri="{FF2B5EF4-FFF2-40B4-BE49-F238E27FC236}">
                <a16:creationId xmlns:a16="http://schemas.microsoft.com/office/drawing/2014/main" id="{72DB36C6-FB03-FD2D-24D3-390712CD7DC5}"/>
              </a:ext>
            </a:extLst>
          </p:cNvPr>
          <p:cNvSpPr/>
          <p:nvPr/>
        </p:nvSpPr>
        <p:spPr>
          <a:xfrm>
            <a:off x="190756" y="4252886"/>
            <a:ext cx="2199518" cy="2045389"/>
          </a:xfrm>
          <a:prstGeom prst="roundRect">
            <a:avLst/>
          </a:prstGeom>
          <a:solidFill>
            <a:schemeClr val="bg1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Повторное тестирование показало, что все объекты библиотеки работают исправно</a:t>
            </a:r>
            <a:endParaRPr lang="ru-RU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8" name="Прямоугольник: скругленные углы 9">
            <a:extLst>
              <a:ext uri="{FF2B5EF4-FFF2-40B4-BE49-F238E27FC236}">
                <a16:creationId xmlns:a16="http://schemas.microsoft.com/office/drawing/2014/main" id="{72DB36C6-FB03-FD2D-24D3-390712CD7DC5}"/>
              </a:ext>
            </a:extLst>
          </p:cNvPr>
          <p:cNvSpPr/>
          <p:nvPr/>
        </p:nvSpPr>
        <p:spPr>
          <a:xfrm>
            <a:off x="190756" y="1660800"/>
            <a:ext cx="2199518" cy="2045389"/>
          </a:xfrm>
          <a:prstGeom prst="roundRect">
            <a:avLst/>
          </a:prstGeom>
          <a:solidFill>
            <a:schemeClr val="bg1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Изначально были недочёты при работе с паттернами</a:t>
            </a:r>
            <a:endParaRPr lang="ru-RU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428846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0F889804-B560-9B7D-04AB-4F087F49A272}"/>
              </a:ext>
            </a:extLst>
          </p:cNvPr>
          <p:cNvSpPr/>
          <p:nvPr/>
        </p:nvSpPr>
        <p:spPr>
          <a:xfrm>
            <a:off x="2887580" y="161294"/>
            <a:ext cx="6152297" cy="1204684"/>
          </a:xfrm>
          <a:prstGeom prst="roundRect">
            <a:avLst/>
          </a:prstGeom>
          <a:solidFill>
            <a:schemeClr val="tx1">
              <a:alpha val="39000"/>
            </a:schemeClr>
          </a:solidFill>
          <a:ln>
            <a:noFill/>
          </a:ln>
          <a:effectLst>
            <a:glow rad="88900">
              <a:schemeClr val="tx1">
                <a:alpha val="40000"/>
              </a:schemeClr>
            </a:glow>
            <a:outerShdw blurRad="2794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0" dirty="0" smtClean="0">
                <a:latin typeface="Impact" panose="020B0806030902050204" pitchFamily="34" charset="0"/>
              </a:rPr>
              <a:t>Планы на будущее</a:t>
            </a:r>
            <a:endParaRPr lang="ru-RU" sz="4000" dirty="0">
              <a:latin typeface="Impact" panose="020B0806030902050204" pitchFamily="34" charset="0"/>
            </a:endParaRPr>
          </a:p>
        </p:txBody>
      </p:sp>
      <p:sp>
        <p:nvSpPr>
          <p:cNvPr id="7" name="Прямоугольник: скругленные углы 9">
            <a:extLst>
              <a:ext uri="{FF2B5EF4-FFF2-40B4-BE49-F238E27FC236}">
                <a16:creationId xmlns:a16="http://schemas.microsoft.com/office/drawing/2014/main" id="{72DB36C6-FB03-FD2D-24D3-390712CD7DC5}"/>
              </a:ext>
            </a:extLst>
          </p:cNvPr>
          <p:cNvSpPr/>
          <p:nvPr/>
        </p:nvSpPr>
        <p:spPr>
          <a:xfrm>
            <a:off x="5963728" y="1610524"/>
            <a:ext cx="6047747" cy="842582"/>
          </a:xfrm>
          <a:prstGeom prst="roundRect">
            <a:avLst/>
          </a:prstGeom>
          <a:solidFill>
            <a:schemeClr val="bg1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>
                    <a:lumMod val="95000"/>
                    <a:lumOff val="5000"/>
                  </a:schemeClr>
                </a:solidFill>
              </a:rPr>
              <a:t>Улучшение существующих функций на основе полученной обратной связи</a:t>
            </a:r>
            <a:endParaRPr lang="ru-RU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8" name="Прямоугольник: скругленные углы 9">
            <a:extLst>
              <a:ext uri="{FF2B5EF4-FFF2-40B4-BE49-F238E27FC236}">
                <a16:creationId xmlns:a16="http://schemas.microsoft.com/office/drawing/2014/main" id="{72DB36C6-FB03-FD2D-24D3-390712CD7DC5}"/>
              </a:ext>
            </a:extLst>
          </p:cNvPr>
          <p:cNvSpPr/>
          <p:nvPr/>
        </p:nvSpPr>
        <p:spPr>
          <a:xfrm>
            <a:off x="327114" y="2697653"/>
            <a:ext cx="6047747" cy="1239162"/>
          </a:xfrm>
          <a:prstGeom prst="roundRect">
            <a:avLst/>
          </a:prstGeom>
          <a:solidFill>
            <a:schemeClr val="bg1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>
                    <a:lumMod val="95000"/>
                    <a:lumOff val="5000"/>
                  </a:schemeClr>
                </a:solidFill>
              </a:rPr>
              <a:t>Полностью переработанный интерфейс, ориентированный на интуитивное взаимодействие и повышение удобства работы конечных пользователей</a:t>
            </a:r>
            <a:endParaRPr lang="ru-RU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9" name="Прямоугольник: скругленные углы 9">
            <a:extLst>
              <a:ext uri="{FF2B5EF4-FFF2-40B4-BE49-F238E27FC236}">
                <a16:creationId xmlns:a16="http://schemas.microsoft.com/office/drawing/2014/main" id="{72DB36C6-FB03-FD2D-24D3-390712CD7DC5}"/>
              </a:ext>
            </a:extLst>
          </p:cNvPr>
          <p:cNvSpPr/>
          <p:nvPr/>
        </p:nvSpPr>
        <p:spPr>
          <a:xfrm>
            <a:off x="5963727" y="4181362"/>
            <a:ext cx="6047747" cy="846131"/>
          </a:xfrm>
          <a:prstGeom prst="roundRect">
            <a:avLst/>
          </a:prstGeom>
          <a:solidFill>
            <a:schemeClr val="bg1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>
                    <a:lumMod val="95000"/>
                    <a:lumOff val="5000"/>
                  </a:schemeClr>
                </a:solidFill>
              </a:rPr>
              <a:t>Анализ и оптимизация алгоритмов для повышения общей </a:t>
            </a:r>
            <a:r>
              <a:rPr lang="ru-RU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эффективности</a:t>
            </a:r>
            <a:endParaRPr lang="ru-RU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72DB36C6-FB03-FD2D-24D3-390712CD7DC5}"/>
              </a:ext>
            </a:extLst>
          </p:cNvPr>
          <p:cNvSpPr/>
          <p:nvPr/>
        </p:nvSpPr>
        <p:spPr>
          <a:xfrm>
            <a:off x="327113" y="5268490"/>
            <a:ext cx="6047747" cy="846131"/>
          </a:xfrm>
          <a:prstGeom prst="roundRect">
            <a:avLst/>
          </a:prstGeom>
          <a:solidFill>
            <a:schemeClr val="bg1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>
                    <a:lumMod val="95000"/>
                    <a:lumOff val="5000"/>
                  </a:schemeClr>
                </a:solidFill>
              </a:rPr>
              <a:t>Расширение инфраструктуры для поддержки роста числа пользователей и увеличения объемов обрабатываемых данных</a:t>
            </a:r>
            <a:endParaRPr lang="ru-RU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90281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C27854C-7C9F-8C9C-16DD-1CEA194491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B8D77D0-2A0C-63A6-1CBF-8C339D16CD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Рисунок 3" descr="Изображение выглядит как зеленый, Красочность, све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69C540D7-67CF-429B-A3F1-D2B305C9BA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B7207F0-5CA7-2C8F-7E3B-9C800146F005}"/>
              </a:ext>
            </a:extLst>
          </p:cNvPr>
          <p:cNvSpPr txBox="1"/>
          <p:nvPr/>
        </p:nvSpPr>
        <p:spPr>
          <a:xfrm>
            <a:off x="2692400" y="2466554"/>
            <a:ext cx="680720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400" dirty="0">
                <a:solidFill>
                  <a:schemeClr val="bg1"/>
                </a:solidFill>
                <a:latin typeface="TD Mars" pitchFamily="50" charset="0"/>
              </a:rPr>
              <a:t>СПАСИБО ЗА ВНИМАНИЕ</a:t>
            </a: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F27EFF8C-1B33-0371-3660-B13A1B4E33ED}"/>
              </a:ext>
            </a:extLst>
          </p:cNvPr>
          <p:cNvSpPr/>
          <p:nvPr/>
        </p:nvSpPr>
        <p:spPr>
          <a:xfrm>
            <a:off x="2830286" y="4326255"/>
            <a:ext cx="6560457" cy="1959428"/>
          </a:xfrm>
          <a:prstGeom prst="roundRect">
            <a:avLst/>
          </a:prstGeom>
          <a:solidFill>
            <a:schemeClr val="bg1">
              <a:alpha val="6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7" name="Рисунок 6" descr="Изображение выглядит как Графика, Шрифт, логотип, графический дизай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8830D2AB-5ADE-1DFE-BCBF-112A464FB57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8340" y="4828263"/>
            <a:ext cx="2824347" cy="1198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2041544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198</Words>
  <Application>Microsoft Office PowerPoint</Application>
  <PresentationFormat>Широкоэкранный</PresentationFormat>
  <Paragraphs>31</Paragraphs>
  <Slides>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5" baseType="lpstr">
      <vt:lpstr>Aptos</vt:lpstr>
      <vt:lpstr>Aptos Display</vt:lpstr>
      <vt:lpstr>Arial</vt:lpstr>
      <vt:lpstr>Impact</vt:lpstr>
      <vt:lpstr>MV-SKIFER</vt:lpstr>
      <vt:lpstr>TD Mars</vt:lpstr>
      <vt:lpstr>Verdana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vlasov vaceslav</dc:creator>
  <cp:lastModifiedBy>221</cp:lastModifiedBy>
  <cp:revision>24</cp:revision>
  <dcterms:created xsi:type="dcterms:W3CDTF">2025-12-09T21:28:54Z</dcterms:created>
  <dcterms:modified xsi:type="dcterms:W3CDTF">2025-12-10T06:43:46Z</dcterms:modified>
</cp:coreProperties>
</file>